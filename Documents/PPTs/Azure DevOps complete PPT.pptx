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sldIdLst>
    <p:sldId id="265" r:id="rId2"/>
    <p:sldId id="266" r:id="rId3"/>
    <p:sldId id="263" r:id="rId4"/>
    <p:sldId id="267" r:id="rId5"/>
    <p:sldId id="287" r:id="rId6"/>
    <p:sldId id="288" r:id="rId7"/>
    <p:sldId id="289" r:id="rId8"/>
    <p:sldId id="290" r:id="rId9"/>
    <p:sldId id="291" r:id="rId10"/>
    <p:sldId id="292" r:id="rId11"/>
    <p:sldId id="313" r:id="rId12"/>
    <p:sldId id="264" r:id="rId13"/>
    <p:sldId id="256" r:id="rId14"/>
    <p:sldId id="258" r:id="rId15"/>
    <p:sldId id="260" r:id="rId16"/>
    <p:sldId id="261" r:id="rId17"/>
    <p:sldId id="262" r:id="rId18"/>
    <p:sldId id="317" r:id="rId19"/>
    <p:sldId id="257" r:id="rId20"/>
    <p:sldId id="325" r:id="rId21"/>
    <p:sldId id="326" r:id="rId22"/>
    <p:sldId id="319" r:id="rId23"/>
    <p:sldId id="320" r:id="rId24"/>
    <p:sldId id="323" r:id="rId25"/>
    <p:sldId id="324" r:id="rId26"/>
    <p:sldId id="272" r:id="rId27"/>
    <p:sldId id="273" r:id="rId28"/>
    <p:sldId id="274" r:id="rId29"/>
    <p:sldId id="275" r:id="rId30"/>
    <p:sldId id="276" r:id="rId31"/>
    <p:sldId id="277" r:id="rId32"/>
    <p:sldId id="278" r:id="rId33"/>
    <p:sldId id="279" r:id="rId34"/>
    <p:sldId id="282" r:id="rId35"/>
    <p:sldId id="283" r:id="rId36"/>
    <p:sldId id="284" r:id="rId37"/>
    <p:sldId id="285" r:id="rId38"/>
    <p:sldId id="286" r:id="rId39"/>
    <p:sldId id="293" r:id="rId40"/>
    <p:sldId id="294" r:id="rId41"/>
    <p:sldId id="295" r:id="rId42"/>
    <p:sldId id="297" r:id="rId43"/>
    <p:sldId id="298" r:id="rId44"/>
    <p:sldId id="299" r:id="rId45"/>
    <p:sldId id="300" r:id="rId46"/>
    <p:sldId id="301" r:id="rId47"/>
    <p:sldId id="302" r:id="rId48"/>
    <p:sldId id="305" r:id="rId49"/>
    <p:sldId id="306" r:id="rId50"/>
    <p:sldId id="308" r:id="rId51"/>
    <p:sldId id="307" r:id="rId52"/>
    <p:sldId id="309" r:id="rId53"/>
    <p:sldId id="310" r:id="rId54"/>
    <p:sldId id="311" r:id="rId55"/>
    <p:sldId id="312" r:id="rId56"/>
    <p:sldId id="314" r:id="rId57"/>
    <p:sldId id="315" r:id="rId58"/>
    <p:sldId id="316" r:id="rId59"/>
    <p:sldId id="304" r:id="rId60"/>
    <p:sldId id="30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11/19/2025</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065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11/19/2025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88538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11/19/2025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694496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11/19/2025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41232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11/19/2025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4005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11/19/2025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29191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11/19/2025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01213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11/19/2025</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475763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11/19/2025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242558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11/19/2025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81261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11/19/2025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6639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11/19/2025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1611953926"/>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45" r:id="rId6"/>
    <p:sldLayoutId id="2147483741" r:id="rId7"/>
    <p:sldLayoutId id="2147483742" r:id="rId8"/>
    <p:sldLayoutId id="2147483743" r:id="rId9"/>
    <p:sldLayoutId id="2147483744" r:id="rId10"/>
    <p:sldLayoutId id="21474837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8BB12-EB7F-2C67-E879-D19D89BB4506}"/>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47917074-ED3B-8B4C-A1AA-3CAD6094D9DA}"/>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A1124551-B7EB-0220-DB4A-E2A1E4E5D3EC}"/>
              </a:ext>
            </a:extLst>
          </p:cNvPr>
          <p:cNvSpPr>
            <a:spLocks noGrp="1"/>
          </p:cNvSpPr>
          <p:nvPr>
            <p:ph type="ctrTitle"/>
          </p:nvPr>
        </p:nvSpPr>
        <p:spPr>
          <a:xfrm>
            <a:off x="477981" y="1122363"/>
            <a:ext cx="4023360" cy="3204134"/>
          </a:xfrm>
        </p:spPr>
        <p:txBody>
          <a:bodyPr anchor="b">
            <a:normAutofit/>
          </a:bodyPr>
          <a:lstStyle/>
          <a:p>
            <a:r>
              <a:rPr lang="en-US" sz="4800" dirty="0"/>
              <a:t>Storage  </a:t>
            </a:r>
            <a:br>
              <a:rPr lang="en-US" sz="4800" dirty="0"/>
            </a:br>
            <a:r>
              <a:rPr lang="en-US" sz="4800" dirty="0"/>
              <a:t>Account</a:t>
            </a:r>
          </a:p>
        </p:txBody>
      </p:sp>
    </p:spTree>
    <p:extLst>
      <p:ext uri="{BB962C8B-B14F-4D97-AF65-F5344CB8AC3E}">
        <p14:creationId xmlns:p14="http://schemas.microsoft.com/office/powerpoint/2010/main" val="2914221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DCB9-5066-F81D-4EAA-4EBCFA3E6BA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008E46E-73C2-F25C-0EE5-6EFD80DAD006}"/>
              </a:ext>
            </a:extLst>
          </p:cNvPr>
          <p:cNvSpPr txBox="1"/>
          <p:nvPr/>
        </p:nvSpPr>
        <p:spPr>
          <a:xfrm>
            <a:off x="338877" y="890831"/>
            <a:ext cx="11514245" cy="5724067"/>
          </a:xfrm>
          <a:prstGeom prst="rect">
            <a:avLst/>
          </a:prstGeom>
          <a:noFill/>
        </p:spPr>
        <p:txBody>
          <a:bodyPr wrap="square">
            <a:spAutoFit/>
          </a:bodyPr>
          <a:lstStyle/>
          <a:p>
            <a:pPr algn="ctr"/>
            <a:r>
              <a:rPr lang="en-US" b="1" dirty="0"/>
              <a:t>Storage Account:</a:t>
            </a:r>
            <a:endParaRPr lang="en-US" dirty="0"/>
          </a:p>
          <a:p>
            <a:pPr>
              <a:lnSpc>
                <a:spcPct val="150000"/>
              </a:lnSpc>
            </a:pPr>
            <a:r>
              <a:rPr lang="en-US" dirty="0"/>
              <a:t>Microsoft Azure's storage solution for object storage, file storage, message queue and a NoSQL store for meeting modern application requirements</a:t>
            </a:r>
          </a:p>
          <a:p>
            <a:pPr>
              <a:lnSpc>
                <a:spcPct val="150000"/>
              </a:lnSpc>
            </a:pPr>
            <a:r>
              <a:rPr lang="en-US" b="1" dirty="0"/>
              <a:t>High availability and durability</a:t>
            </a:r>
            <a:r>
              <a:rPr lang="en-US" dirty="0"/>
              <a:t> Storage account comes with different redundancies to fulfill your durability requirements. Data stored in the storage account can be replicated to different datacenters and even across regions ensuring high availability for the data</a:t>
            </a:r>
          </a:p>
          <a:p>
            <a:pPr>
              <a:lnSpc>
                <a:spcPct val="150000"/>
              </a:lnSpc>
            </a:pPr>
            <a:r>
              <a:rPr lang="en-US" b="1" dirty="0"/>
              <a:t>Scalability and Managed</a:t>
            </a:r>
            <a:r>
              <a:rPr lang="en-US" dirty="0"/>
              <a:t> Azure Storage is a platform managed service, depending upon the requirement it will automatically scale the storage and performance</a:t>
            </a:r>
          </a:p>
          <a:p>
            <a:pPr>
              <a:lnSpc>
                <a:spcPct val="150000"/>
              </a:lnSpc>
            </a:pPr>
            <a:r>
              <a:rPr lang="en-US" b="1" dirty="0"/>
              <a:t>Security</a:t>
            </a:r>
            <a:r>
              <a:rPr lang="en-US" dirty="0"/>
              <a:t> By default, all data written to the storage account is encrypted by Storage Encryption Service. To access the data storage accounts, provide different authorization methods such as storage keys, shared access signature, and Azure AD</a:t>
            </a:r>
          </a:p>
          <a:p>
            <a:pPr>
              <a:lnSpc>
                <a:spcPct val="150000"/>
              </a:lnSpc>
            </a:pPr>
            <a:r>
              <a:rPr lang="en-US" b="1" dirty="0"/>
              <a:t>Access</a:t>
            </a:r>
            <a:r>
              <a:rPr lang="en-US" dirty="0"/>
              <a:t> HTTP or HTTPS can be used to access the data that is stored in Azure Storage. With the help SDKs provided by Microsoft, developers can easily integrate Azure Storage with their code. Azure Storage also supports Azure PowerShell, Azure CLI and REST API</a:t>
            </a:r>
          </a:p>
        </p:txBody>
      </p:sp>
    </p:spTree>
    <p:extLst>
      <p:ext uri="{BB962C8B-B14F-4D97-AF65-F5344CB8AC3E}">
        <p14:creationId xmlns:p14="http://schemas.microsoft.com/office/powerpoint/2010/main" val="2875725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8E080-C026-9232-B649-3D8008046D6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910A1D7-7DFE-6F0A-8282-D026CECE7CEC}"/>
              </a:ext>
            </a:extLst>
          </p:cNvPr>
          <p:cNvPicPr>
            <a:picLocks noChangeAspect="1"/>
          </p:cNvPicPr>
          <p:nvPr/>
        </p:nvPicPr>
        <p:blipFill>
          <a:blip r:embed="rId2"/>
          <a:stretch>
            <a:fillRect/>
          </a:stretch>
        </p:blipFill>
        <p:spPr>
          <a:xfrm>
            <a:off x="963045" y="1202435"/>
            <a:ext cx="9955014" cy="2734057"/>
          </a:xfrm>
          <a:prstGeom prst="rect">
            <a:avLst/>
          </a:prstGeom>
        </p:spPr>
      </p:pic>
      <p:sp>
        <p:nvSpPr>
          <p:cNvPr id="9" name="TextBox 8">
            <a:extLst>
              <a:ext uri="{FF2B5EF4-FFF2-40B4-BE49-F238E27FC236}">
                <a16:creationId xmlns:a16="http://schemas.microsoft.com/office/drawing/2014/main" id="{36EC16DD-8A10-2A1B-CF17-DD4123B847F9}"/>
              </a:ext>
            </a:extLst>
          </p:cNvPr>
          <p:cNvSpPr txBox="1"/>
          <p:nvPr/>
        </p:nvSpPr>
        <p:spPr>
          <a:xfrm>
            <a:off x="660654" y="4027807"/>
            <a:ext cx="10376154" cy="2538580"/>
          </a:xfrm>
          <a:prstGeom prst="rect">
            <a:avLst/>
          </a:prstGeom>
          <a:noFill/>
        </p:spPr>
        <p:txBody>
          <a:bodyPr wrap="square">
            <a:spAutoFit/>
          </a:bodyPr>
          <a:lstStyle/>
          <a:p>
            <a:pPr>
              <a:lnSpc>
                <a:spcPct val="150000"/>
              </a:lnSpc>
              <a:buNone/>
            </a:pPr>
            <a:r>
              <a:rPr lang="en-US" b="1" dirty="0"/>
              <a:t>Azure Containers</a:t>
            </a:r>
            <a:r>
              <a:rPr lang="en-US" dirty="0"/>
              <a:t> Ideal for storing unstructured data such as text or binary data</a:t>
            </a:r>
          </a:p>
          <a:p>
            <a:pPr>
              <a:lnSpc>
                <a:spcPct val="150000"/>
              </a:lnSpc>
              <a:buNone/>
            </a:pPr>
            <a:r>
              <a:rPr lang="en-US" b="1" dirty="0"/>
              <a:t>Azure Files</a:t>
            </a:r>
            <a:r>
              <a:rPr lang="en-US" dirty="0"/>
              <a:t> Used to provision highly available file shares in cloud that can be mounted to cloud and on-premises machines</a:t>
            </a:r>
          </a:p>
          <a:p>
            <a:pPr>
              <a:lnSpc>
                <a:spcPct val="150000"/>
              </a:lnSpc>
              <a:buNone/>
            </a:pPr>
            <a:r>
              <a:rPr lang="en-US" b="1" dirty="0"/>
              <a:t>Azure Tables</a:t>
            </a:r>
            <a:r>
              <a:rPr lang="en-US" dirty="0"/>
              <a:t> Ideal for storing structured non-relational data</a:t>
            </a:r>
          </a:p>
          <a:p>
            <a:pPr>
              <a:lnSpc>
                <a:spcPct val="150000"/>
              </a:lnSpc>
              <a:buNone/>
            </a:pPr>
            <a:r>
              <a:rPr lang="en-US" b="1" dirty="0"/>
              <a:t>Azure Queues</a:t>
            </a:r>
            <a:r>
              <a:rPr lang="en-US" dirty="0"/>
              <a:t> Used to store messages and retrieve messages between application components that needs to be processed asynchronously</a:t>
            </a:r>
          </a:p>
        </p:txBody>
      </p:sp>
    </p:spTree>
    <p:extLst>
      <p:ext uri="{BB962C8B-B14F-4D97-AF65-F5344CB8AC3E}">
        <p14:creationId xmlns:p14="http://schemas.microsoft.com/office/powerpoint/2010/main" val="921856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8E0AB-AC61-A205-04A3-998DF6C13A2E}"/>
            </a:ext>
          </a:extLst>
        </p:cNvPr>
        <p:cNvGrpSpPr/>
        <p:nvPr/>
      </p:nvGrpSpPr>
      <p:grpSpPr>
        <a:xfrm>
          <a:off x="0" y="0"/>
          <a:ext cx="0" cy="0"/>
          <a:chOff x="0" y="0"/>
          <a:chExt cx="0" cy="0"/>
        </a:xfrm>
      </p:grpSpPr>
      <p:sp>
        <p:nvSpPr>
          <p:cNvPr id="4" name="Rectangle 1">
            <a:extLst>
              <a:ext uri="{FF2B5EF4-FFF2-40B4-BE49-F238E27FC236}">
                <a16:creationId xmlns:a16="http://schemas.microsoft.com/office/drawing/2014/main" id="{69F9280F-52E8-1187-F48D-080D069CDDE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TextBox 5">
            <a:extLst>
              <a:ext uri="{FF2B5EF4-FFF2-40B4-BE49-F238E27FC236}">
                <a16:creationId xmlns:a16="http://schemas.microsoft.com/office/drawing/2014/main" id="{F8CB40E3-B448-C6F2-E1B7-2137ECE7D0DB}"/>
              </a:ext>
            </a:extLst>
          </p:cNvPr>
          <p:cNvSpPr txBox="1"/>
          <p:nvPr/>
        </p:nvSpPr>
        <p:spPr>
          <a:xfrm>
            <a:off x="806958" y="683507"/>
            <a:ext cx="10376154" cy="4200574"/>
          </a:xfrm>
          <a:prstGeom prst="rect">
            <a:avLst/>
          </a:prstGeom>
          <a:noFill/>
        </p:spPr>
        <p:txBody>
          <a:bodyPr wrap="square">
            <a:spAutoFit/>
          </a:bodyPr>
          <a:lstStyle/>
          <a:p>
            <a:pPr algn="ctr">
              <a:lnSpc>
                <a:spcPct val="150000"/>
              </a:lnSpc>
              <a:buNone/>
            </a:pPr>
            <a:r>
              <a:rPr lang="en-US" sz="3600" b="1" dirty="0"/>
              <a:t>Storage Replication</a:t>
            </a:r>
          </a:p>
          <a:p>
            <a:pPr>
              <a:lnSpc>
                <a:spcPct val="150000"/>
              </a:lnSpc>
              <a:buNone/>
            </a:pPr>
            <a:r>
              <a:rPr lang="en-US" b="1" dirty="0"/>
              <a:t>Locally redundant storage (LRS)</a:t>
            </a:r>
            <a:r>
              <a:rPr lang="en-US" dirty="0"/>
              <a:t> LRS: Synchronously replicates data to three disks within a data center in the primary region. Offers a moderate level of availability at a lower cost.</a:t>
            </a:r>
          </a:p>
          <a:p>
            <a:pPr>
              <a:lnSpc>
                <a:spcPct val="150000"/>
              </a:lnSpc>
              <a:buNone/>
            </a:pPr>
            <a:r>
              <a:rPr lang="en-US" b="1" dirty="0"/>
              <a:t>Zone-redundant storage (ZRS)</a:t>
            </a:r>
            <a:r>
              <a:rPr lang="en-US" dirty="0"/>
              <a:t> ZRS: Synchronously replicates data among three Azure availability zones in the primary region. Provides a higher level of resilience at higher cost.</a:t>
            </a:r>
          </a:p>
          <a:p>
            <a:pPr>
              <a:lnSpc>
                <a:spcPct val="150000"/>
              </a:lnSpc>
              <a:buNone/>
            </a:pPr>
            <a:r>
              <a:rPr lang="en-US" b="1" dirty="0"/>
              <a:t>Geo-Redundant storage (GRS)</a:t>
            </a:r>
            <a:r>
              <a:rPr lang="en-US" dirty="0"/>
              <a:t> GRS: Stores another three copies of data in a paired Azure region.</a:t>
            </a:r>
          </a:p>
          <a:p>
            <a:pPr>
              <a:lnSpc>
                <a:spcPct val="150000"/>
              </a:lnSpc>
              <a:buNone/>
            </a:pPr>
            <a:r>
              <a:rPr lang="en-US" b="1" dirty="0"/>
              <a:t>Read-Access Geo-Redundant (RA-GRS)</a:t>
            </a:r>
            <a:r>
              <a:rPr lang="en-US" dirty="0"/>
              <a:t> RA-GRS: Same as GRS, but allows data to be read from both Azure regions.</a:t>
            </a:r>
          </a:p>
        </p:txBody>
      </p:sp>
    </p:spTree>
    <p:extLst>
      <p:ext uri="{BB962C8B-B14F-4D97-AF65-F5344CB8AC3E}">
        <p14:creationId xmlns:p14="http://schemas.microsoft.com/office/powerpoint/2010/main" val="85122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8317-C4B3-2372-19E1-7C37F7ECBB86}"/>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81062C98-C621-60BB-D838-7E77B1279937}"/>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0E70D2C6-B2C9-15DD-D10D-C4B7E723E404}"/>
              </a:ext>
            </a:extLst>
          </p:cNvPr>
          <p:cNvSpPr>
            <a:spLocks noGrp="1"/>
          </p:cNvSpPr>
          <p:nvPr>
            <p:ph type="ctrTitle"/>
          </p:nvPr>
        </p:nvSpPr>
        <p:spPr>
          <a:xfrm>
            <a:off x="477981" y="1122363"/>
            <a:ext cx="4023360" cy="3204134"/>
          </a:xfrm>
        </p:spPr>
        <p:txBody>
          <a:bodyPr anchor="b">
            <a:normAutofit/>
          </a:bodyPr>
          <a:lstStyle/>
          <a:p>
            <a:r>
              <a:rPr lang="en-US" sz="4800" dirty="0"/>
              <a:t>Version   </a:t>
            </a:r>
            <a:br>
              <a:rPr lang="en-US" sz="4800" dirty="0"/>
            </a:br>
            <a:r>
              <a:rPr lang="en-US" sz="4800" dirty="0"/>
              <a:t>Control</a:t>
            </a:r>
          </a:p>
        </p:txBody>
      </p:sp>
    </p:spTree>
    <p:extLst>
      <p:ext uri="{BB962C8B-B14F-4D97-AF65-F5344CB8AC3E}">
        <p14:creationId xmlns:p14="http://schemas.microsoft.com/office/powerpoint/2010/main" val="2692830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6E1B9-7EA6-1EC1-71C6-4DBC9E79540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33A6EA2-70E4-F80F-D5FA-757F6E4E010C}"/>
              </a:ext>
            </a:extLst>
          </p:cNvPr>
          <p:cNvSpPr txBox="1"/>
          <p:nvPr/>
        </p:nvSpPr>
        <p:spPr>
          <a:xfrm>
            <a:off x="338877" y="223319"/>
            <a:ext cx="11514245" cy="6278065"/>
          </a:xfrm>
          <a:prstGeom prst="rect">
            <a:avLst/>
          </a:prstGeom>
          <a:noFill/>
        </p:spPr>
        <p:txBody>
          <a:bodyPr wrap="square">
            <a:spAutoFit/>
          </a:bodyPr>
          <a:lstStyle/>
          <a:p>
            <a:pPr>
              <a:lnSpc>
                <a:spcPct val="150000"/>
              </a:lnSpc>
            </a:pPr>
            <a:r>
              <a:rPr lang="en-US" b="1" dirty="0"/>
              <a:t>Version Control</a:t>
            </a:r>
            <a:endParaRPr lang="en-US" dirty="0"/>
          </a:p>
          <a:p>
            <a:pPr marL="285750" indent="-285750">
              <a:lnSpc>
                <a:spcPct val="150000"/>
              </a:lnSpc>
              <a:buFont typeface="Arial" panose="020B0604020202020204" pitchFamily="34" charset="0"/>
              <a:buChar char="•"/>
            </a:pPr>
            <a:r>
              <a:rPr lang="en-US" dirty="0"/>
              <a:t>Version control, also known as source control, is the practice of tracking and managing changes to software code</a:t>
            </a:r>
          </a:p>
          <a:p>
            <a:pPr marL="285750" indent="-285750">
              <a:lnSpc>
                <a:spcPct val="150000"/>
              </a:lnSpc>
              <a:buFont typeface="Arial" panose="020B0604020202020204" pitchFamily="34" charset="0"/>
              <a:buChar char="•"/>
            </a:pPr>
            <a:r>
              <a:rPr lang="en-US" dirty="0"/>
              <a:t>Version control software keeps track of every modification to the code in a special kind of database</a:t>
            </a:r>
          </a:p>
          <a:p>
            <a:pPr marL="285750" indent="-285750">
              <a:lnSpc>
                <a:spcPct val="150000"/>
              </a:lnSpc>
              <a:buFont typeface="Arial" panose="020B0604020202020204" pitchFamily="34" charset="0"/>
              <a:buChar char="•"/>
            </a:pPr>
            <a:r>
              <a:rPr lang="en-US" dirty="0"/>
              <a:t>Version control tracks every developer change and helps prevent concurrent work from conflicting</a:t>
            </a:r>
          </a:p>
          <a:p>
            <a:pPr>
              <a:lnSpc>
                <a:spcPct val="150000"/>
              </a:lnSpc>
            </a:pPr>
            <a:r>
              <a:rPr lang="en-US" b="1" dirty="0"/>
              <a:t>Benefits of the version control system:</a:t>
            </a:r>
            <a:endParaRPr lang="en-US" dirty="0"/>
          </a:p>
          <a:p>
            <a:pPr marL="285750" indent="-285750">
              <a:lnSpc>
                <a:spcPct val="150000"/>
              </a:lnSpc>
              <a:buFont typeface="Arial" panose="020B0604020202020204" pitchFamily="34" charset="0"/>
              <a:buChar char="•"/>
            </a:pPr>
            <a:r>
              <a:rPr lang="en-US" dirty="0"/>
              <a:t>Enhances the project development speed by providing efficient collaboration</a:t>
            </a:r>
          </a:p>
          <a:p>
            <a:pPr marL="285750" indent="-285750">
              <a:lnSpc>
                <a:spcPct val="150000"/>
              </a:lnSpc>
              <a:buFont typeface="Arial" panose="020B0604020202020204" pitchFamily="34" charset="0"/>
              <a:buChar char="•"/>
            </a:pPr>
            <a:r>
              <a:rPr lang="en-US" dirty="0"/>
              <a:t>Reduce possibilities of errors and conflicts meanwhile project development through traceability to every small change</a:t>
            </a:r>
          </a:p>
          <a:p>
            <a:pPr marL="285750" indent="-285750">
              <a:lnSpc>
                <a:spcPct val="150000"/>
              </a:lnSpc>
              <a:buFont typeface="Arial" panose="020B0604020202020204" pitchFamily="34" charset="0"/>
              <a:buChar char="•"/>
            </a:pPr>
            <a:r>
              <a:rPr lang="en-US" dirty="0"/>
              <a:t>Employees or contributors of the project can contribute from anywhere irrespective of the different geographical locations through this VCS</a:t>
            </a:r>
          </a:p>
          <a:p>
            <a:pPr marL="285750" indent="-285750">
              <a:lnSpc>
                <a:spcPct val="150000"/>
              </a:lnSpc>
              <a:buFont typeface="Arial" panose="020B0604020202020204" pitchFamily="34" charset="0"/>
              <a:buChar char="•"/>
            </a:pPr>
            <a:r>
              <a:rPr lang="en-US" dirty="0"/>
              <a:t>For each different contributor to the project, a different working copy is maintained and not merged to the main file unless the working copy is validated. The most popular example is Git, Helix core, Microsoft TFS</a:t>
            </a:r>
          </a:p>
          <a:p>
            <a:pPr marL="285750" indent="-285750">
              <a:lnSpc>
                <a:spcPct val="150000"/>
              </a:lnSpc>
              <a:buFont typeface="Arial" panose="020B0604020202020204" pitchFamily="34" charset="0"/>
              <a:buChar char="•"/>
            </a:pPr>
            <a:r>
              <a:rPr lang="en-US" dirty="0"/>
              <a:t>Helps in recovery in case of any disaster or contingent situation</a:t>
            </a:r>
          </a:p>
          <a:p>
            <a:pPr marL="285750" indent="-285750">
              <a:lnSpc>
                <a:spcPct val="150000"/>
              </a:lnSpc>
              <a:buFont typeface="Arial" panose="020B0604020202020204" pitchFamily="34" charset="0"/>
              <a:buChar char="•"/>
            </a:pPr>
            <a:r>
              <a:rPr lang="en-US" dirty="0"/>
              <a:t>Informs us about Who, What, When, and Why changes have been made</a:t>
            </a:r>
          </a:p>
        </p:txBody>
      </p:sp>
    </p:spTree>
    <p:extLst>
      <p:ext uri="{BB962C8B-B14F-4D97-AF65-F5344CB8AC3E}">
        <p14:creationId xmlns:p14="http://schemas.microsoft.com/office/powerpoint/2010/main" val="3215844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6EB57-9DDC-C3C5-91C2-87C45D582CC4}"/>
            </a:ext>
          </a:extLst>
        </p:cNvPr>
        <p:cNvGrpSpPr/>
        <p:nvPr/>
      </p:nvGrpSpPr>
      <p:grpSpPr>
        <a:xfrm>
          <a:off x="0" y="0"/>
          <a:ext cx="0" cy="0"/>
          <a:chOff x="0" y="0"/>
          <a:chExt cx="0" cy="0"/>
        </a:xfrm>
      </p:grpSpPr>
      <p:pic>
        <p:nvPicPr>
          <p:cNvPr id="1026" name="Picture 2" descr="Centralized vs Distributed Version Control Systems | by Mateusz Lubański |  FAUN — Developer Community 🐾">
            <a:extLst>
              <a:ext uri="{FF2B5EF4-FFF2-40B4-BE49-F238E27FC236}">
                <a16:creationId xmlns:a16="http://schemas.microsoft.com/office/drawing/2014/main" id="{2D90A227-BDB1-DA56-271F-A8BB9DA8D5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3429000"/>
            <a:ext cx="6966054" cy="30748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02268CD-C13A-B592-7350-E424149E0D6C}"/>
              </a:ext>
            </a:extLst>
          </p:cNvPr>
          <p:cNvSpPr txBox="1"/>
          <p:nvPr/>
        </p:nvSpPr>
        <p:spPr>
          <a:xfrm>
            <a:off x="569214" y="929331"/>
            <a:ext cx="10330434" cy="3923575"/>
          </a:xfrm>
          <a:prstGeom prst="rect">
            <a:avLst/>
          </a:prstGeom>
          <a:noFill/>
        </p:spPr>
        <p:txBody>
          <a:bodyPr wrap="square">
            <a:spAutoFit/>
          </a:bodyPr>
          <a:lstStyle/>
          <a:p>
            <a:pPr>
              <a:buNone/>
            </a:pPr>
            <a:r>
              <a:rPr lang="en-US" b="1" dirty="0"/>
              <a:t>Centralized Version Control Systems</a:t>
            </a:r>
          </a:p>
          <a:p>
            <a:pPr>
              <a:buNone/>
            </a:pPr>
            <a:endParaRPr lang="en-US" dirty="0"/>
          </a:p>
          <a:p>
            <a:pPr>
              <a:lnSpc>
                <a:spcPct val="150000"/>
              </a:lnSpc>
              <a:buNone/>
            </a:pPr>
            <a:r>
              <a:rPr lang="en-US" dirty="0"/>
              <a:t>Centralized version control systems contain just one repository globally and every user needs to commit to reflecting one's chances in the repository. It is possible for others to see your changes by updating.</a:t>
            </a:r>
          </a:p>
          <a:p>
            <a:pPr>
              <a:lnSpc>
                <a:spcPct val="150000"/>
              </a:lnSpc>
              <a:buNone/>
            </a:pPr>
            <a:endParaRPr lang="en-US" dirty="0"/>
          </a:p>
          <a:p>
            <a:pPr>
              <a:lnSpc>
                <a:spcPct val="150000"/>
              </a:lnSpc>
              <a:buNone/>
            </a:pPr>
            <a:r>
              <a:rPr lang="en-US" dirty="0"/>
              <a:t>Two things are required to make your changes visible to others which are:</a:t>
            </a:r>
          </a:p>
          <a:p>
            <a:pPr>
              <a:lnSpc>
                <a:spcPct val="150000"/>
              </a:lnSpc>
              <a:buNone/>
            </a:pPr>
            <a:endParaRPr lang="en-US" dirty="0"/>
          </a:p>
          <a:p>
            <a:pPr>
              <a:lnSpc>
                <a:spcPct val="150000"/>
              </a:lnSpc>
              <a:buFont typeface="Arial" panose="020B0604020202020204" pitchFamily="34" charset="0"/>
              <a:buChar char="•"/>
            </a:pPr>
            <a:r>
              <a:rPr lang="en-US" dirty="0"/>
              <a:t>You commit</a:t>
            </a:r>
          </a:p>
          <a:p>
            <a:pPr>
              <a:lnSpc>
                <a:spcPct val="150000"/>
              </a:lnSpc>
              <a:buFont typeface="Arial" panose="020B0604020202020204" pitchFamily="34" charset="0"/>
              <a:buChar char="•"/>
            </a:pPr>
            <a:r>
              <a:rPr lang="en-US" dirty="0"/>
              <a:t>They update</a:t>
            </a:r>
          </a:p>
        </p:txBody>
      </p:sp>
    </p:spTree>
    <p:extLst>
      <p:ext uri="{BB962C8B-B14F-4D97-AF65-F5344CB8AC3E}">
        <p14:creationId xmlns:p14="http://schemas.microsoft.com/office/powerpoint/2010/main" val="729412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9FB40-154E-7BAA-0CBC-DD95C643C4E9}"/>
            </a:ext>
          </a:extLst>
        </p:cNvPr>
        <p:cNvGrpSpPr/>
        <p:nvPr/>
      </p:nvGrpSpPr>
      <p:grpSpPr>
        <a:xfrm>
          <a:off x="0" y="0"/>
          <a:ext cx="0" cy="0"/>
          <a:chOff x="0" y="0"/>
          <a:chExt cx="0" cy="0"/>
        </a:xfrm>
      </p:grpSpPr>
      <p:pic>
        <p:nvPicPr>
          <p:cNvPr id="2050" name="Picture 2" descr="How does Git work?. Git is a DVCS (Distributed Version… | by sunil kumar  sahoo | Medium">
            <a:extLst>
              <a:ext uri="{FF2B5EF4-FFF2-40B4-BE49-F238E27FC236}">
                <a16:creationId xmlns:a16="http://schemas.microsoft.com/office/drawing/2014/main" id="{38F6E5AF-2A20-76D5-23CE-D966F3502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1375" y="704850"/>
            <a:ext cx="6191978" cy="40957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93DAE50-1364-1325-186B-3759D5BFD450}"/>
              </a:ext>
            </a:extLst>
          </p:cNvPr>
          <p:cNvSpPr txBox="1"/>
          <p:nvPr/>
        </p:nvSpPr>
        <p:spPr>
          <a:xfrm>
            <a:off x="377952" y="704850"/>
            <a:ext cx="6191978" cy="5447069"/>
          </a:xfrm>
          <a:prstGeom prst="rect">
            <a:avLst/>
          </a:prstGeom>
          <a:noFill/>
        </p:spPr>
        <p:txBody>
          <a:bodyPr wrap="square">
            <a:spAutoFit/>
          </a:bodyPr>
          <a:lstStyle/>
          <a:p>
            <a:pPr>
              <a:lnSpc>
                <a:spcPct val="150000"/>
              </a:lnSpc>
              <a:buNone/>
            </a:pPr>
            <a:r>
              <a:rPr lang="en-US" b="1" dirty="0"/>
              <a:t>Distributed Version Control Systems:</a:t>
            </a:r>
            <a:endParaRPr lang="en-US" dirty="0"/>
          </a:p>
          <a:p>
            <a:pPr>
              <a:lnSpc>
                <a:spcPct val="150000"/>
              </a:lnSpc>
              <a:buFont typeface="Arial" panose="020B0604020202020204" pitchFamily="34" charset="0"/>
              <a:buChar char="•"/>
            </a:pPr>
            <a:r>
              <a:rPr lang="en-US" dirty="0"/>
              <a:t>Distributed version control systems contain multiple repositories</a:t>
            </a:r>
          </a:p>
          <a:p>
            <a:pPr>
              <a:lnSpc>
                <a:spcPct val="150000"/>
              </a:lnSpc>
              <a:buFont typeface="Arial" panose="020B0604020202020204" pitchFamily="34" charset="0"/>
              <a:buChar char="•"/>
            </a:pPr>
            <a:r>
              <a:rPr lang="en-US" dirty="0"/>
              <a:t>Each user has their repository and working copy, users need to pull to fetch the latest changes whereas developers need to push their changes to update the remote repository</a:t>
            </a:r>
          </a:p>
          <a:p>
            <a:pPr marL="285750" indent="-285750">
              <a:lnSpc>
                <a:spcPct val="150000"/>
              </a:lnSpc>
              <a:buFont typeface="Arial" panose="020B0604020202020204" pitchFamily="34" charset="0"/>
              <a:buChar char="•"/>
            </a:pPr>
            <a:r>
              <a:rPr lang="en-US" dirty="0"/>
              <a:t>To make your changes visible to others, 4 things are required:</a:t>
            </a:r>
          </a:p>
          <a:p>
            <a:pPr lvl="2">
              <a:lnSpc>
                <a:spcPct val="150000"/>
              </a:lnSpc>
              <a:buFont typeface="Arial" panose="020B0604020202020204" pitchFamily="34" charset="0"/>
              <a:buChar char="•"/>
            </a:pPr>
            <a:r>
              <a:rPr lang="en-US" dirty="0"/>
              <a:t>You commit</a:t>
            </a:r>
          </a:p>
          <a:p>
            <a:pPr lvl="2">
              <a:lnSpc>
                <a:spcPct val="150000"/>
              </a:lnSpc>
              <a:buFont typeface="Arial" panose="020B0604020202020204" pitchFamily="34" charset="0"/>
              <a:buChar char="•"/>
            </a:pPr>
            <a:r>
              <a:rPr lang="en-US" dirty="0"/>
              <a:t>You push</a:t>
            </a:r>
          </a:p>
          <a:p>
            <a:pPr lvl="2">
              <a:lnSpc>
                <a:spcPct val="150000"/>
              </a:lnSpc>
              <a:buFont typeface="Arial" panose="020B0604020202020204" pitchFamily="34" charset="0"/>
              <a:buChar char="•"/>
            </a:pPr>
            <a:r>
              <a:rPr lang="en-US" dirty="0"/>
              <a:t>They pull</a:t>
            </a:r>
          </a:p>
          <a:p>
            <a:pPr lvl="2">
              <a:lnSpc>
                <a:spcPct val="150000"/>
              </a:lnSpc>
              <a:buFont typeface="Arial" panose="020B0604020202020204" pitchFamily="34" charset="0"/>
              <a:buChar char="•"/>
            </a:pPr>
            <a:r>
              <a:rPr lang="en-US" dirty="0"/>
              <a:t>They update</a:t>
            </a:r>
          </a:p>
        </p:txBody>
      </p:sp>
    </p:spTree>
    <p:extLst>
      <p:ext uri="{BB962C8B-B14F-4D97-AF65-F5344CB8AC3E}">
        <p14:creationId xmlns:p14="http://schemas.microsoft.com/office/powerpoint/2010/main" val="1967386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6DCD0-F65D-27F7-5136-F62E1F67C3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6561C1A-DCD3-E8B8-1E28-213499243F2E}"/>
              </a:ext>
            </a:extLst>
          </p:cNvPr>
          <p:cNvSpPr txBox="1"/>
          <p:nvPr/>
        </p:nvSpPr>
        <p:spPr>
          <a:xfrm>
            <a:off x="313563" y="235263"/>
            <a:ext cx="11564874" cy="6001066"/>
          </a:xfrm>
          <a:prstGeom prst="rect">
            <a:avLst/>
          </a:prstGeom>
          <a:noFill/>
        </p:spPr>
        <p:txBody>
          <a:bodyPr wrap="square">
            <a:spAutoFit/>
          </a:bodyPr>
          <a:lstStyle/>
          <a:p>
            <a:pPr>
              <a:buNone/>
            </a:pPr>
            <a:r>
              <a:rPr lang="en-US" b="1" dirty="0"/>
              <a:t>Benefits of using GIT over SVN/TFS</a:t>
            </a:r>
          </a:p>
          <a:p>
            <a:pPr>
              <a:buNone/>
            </a:pPr>
            <a:endParaRPr lang="en-US" dirty="0"/>
          </a:p>
          <a:p>
            <a:pPr>
              <a:lnSpc>
                <a:spcPct val="150000"/>
              </a:lnSpc>
              <a:buFont typeface="Arial" panose="020B0604020202020204" pitchFamily="34" charset="0"/>
              <a:buChar char="•"/>
            </a:pPr>
            <a:r>
              <a:rPr lang="en-US" dirty="0"/>
              <a:t>Git utilizes multiple repositories: a central repository and a series of local repositories. Local repositories are exact copies of the central repository complete with the entire history of changes, Unlike SVN</a:t>
            </a:r>
          </a:p>
          <a:p>
            <a:pPr>
              <a:lnSpc>
                <a:spcPct val="150000"/>
              </a:lnSpc>
              <a:buFont typeface="Arial" panose="020B0604020202020204" pitchFamily="34" charset="0"/>
              <a:buChar char="•"/>
            </a:pPr>
            <a:r>
              <a:rPr lang="en-US" dirty="0"/>
              <a:t>The Git workflow is similar to SVN, but with an extra step: to create a new feature, you take an exact copy of the central repository to create your local repository on your local machine</a:t>
            </a:r>
          </a:p>
          <a:p>
            <a:pPr>
              <a:lnSpc>
                <a:spcPct val="150000"/>
              </a:lnSpc>
              <a:buFont typeface="Arial" panose="020B0604020202020204" pitchFamily="34" charset="0"/>
              <a:buChar char="•"/>
            </a:pPr>
            <a:r>
              <a:rPr lang="en-US" dirty="0"/>
              <a:t>Many developers prefer GIT for the following reason:</a:t>
            </a:r>
          </a:p>
          <a:p>
            <a:pPr marL="742950" lvl="1" indent="-285750">
              <a:lnSpc>
                <a:spcPct val="150000"/>
              </a:lnSpc>
              <a:buFont typeface="Arial" panose="020B0604020202020204" pitchFamily="34" charset="0"/>
              <a:buChar char="•"/>
            </a:pPr>
            <a:r>
              <a:rPr lang="en-US" dirty="0"/>
              <a:t>Its faster to commit</a:t>
            </a:r>
          </a:p>
          <a:p>
            <a:pPr marL="742950" lvl="1" indent="-285750">
              <a:lnSpc>
                <a:spcPct val="150000"/>
              </a:lnSpc>
              <a:buFont typeface="Arial" panose="020B0604020202020204" pitchFamily="34" charset="0"/>
              <a:buChar char="•"/>
            </a:pPr>
            <a:r>
              <a:rPr lang="en-US" dirty="0"/>
              <a:t>No more single point of failure</a:t>
            </a:r>
          </a:p>
          <a:p>
            <a:pPr marL="742950" lvl="1" indent="-285750">
              <a:lnSpc>
                <a:spcPct val="150000"/>
              </a:lnSpc>
              <a:buFont typeface="Arial" panose="020B0604020202020204" pitchFamily="34" charset="0"/>
              <a:buChar char="•"/>
            </a:pPr>
            <a:r>
              <a:rPr lang="en-US" dirty="0"/>
              <a:t>If the centralized server is down, the developers can still work using a local copy</a:t>
            </a:r>
          </a:p>
          <a:p>
            <a:pPr marL="742950" lvl="1" indent="-285750">
              <a:lnSpc>
                <a:spcPct val="150000"/>
              </a:lnSpc>
              <a:buFont typeface="Arial" panose="020B0604020202020204" pitchFamily="34" charset="0"/>
              <a:buChar char="•"/>
            </a:pPr>
            <a:r>
              <a:rPr lang="en-US" dirty="0"/>
              <a:t>It's available offline</a:t>
            </a:r>
          </a:p>
          <a:p>
            <a:pPr>
              <a:lnSpc>
                <a:spcPct val="150000"/>
              </a:lnSpc>
              <a:buFont typeface="Arial" panose="020B0604020202020204" pitchFamily="34" charset="0"/>
              <a:buChar char="•"/>
            </a:pPr>
            <a:r>
              <a:rPr lang="en-US" dirty="0"/>
              <a:t>TFS works on the concept of By Value whereas GIT works on the concept of By Reference</a:t>
            </a:r>
          </a:p>
          <a:p>
            <a:pPr marL="742950" lvl="1" indent="-285750">
              <a:lnSpc>
                <a:spcPct val="150000"/>
              </a:lnSpc>
              <a:buFont typeface="Arial" panose="020B0604020202020204" pitchFamily="34" charset="0"/>
              <a:buChar char="•"/>
            </a:pPr>
            <a:r>
              <a:rPr lang="en-US" dirty="0"/>
              <a:t>This means in TFS, the total number of branches = total number of physical folders</a:t>
            </a:r>
          </a:p>
          <a:p>
            <a:pPr marL="742950" lvl="1" indent="-285750">
              <a:lnSpc>
                <a:spcPct val="150000"/>
              </a:lnSpc>
              <a:buFont typeface="Arial" panose="020B0604020202020204" pitchFamily="34" charset="0"/>
              <a:buChar char="•"/>
            </a:pPr>
            <a:r>
              <a:rPr lang="en-US" dirty="0"/>
              <a:t>GIT, the total number of branches = Branches are logical and only the reference or pointer moves ahead or back with each branch</a:t>
            </a:r>
          </a:p>
        </p:txBody>
      </p:sp>
    </p:spTree>
    <p:extLst>
      <p:ext uri="{BB962C8B-B14F-4D97-AF65-F5344CB8AC3E}">
        <p14:creationId xmlns:p14="http://schemas.microsoft.com/office/powerpoint/2010/main" val="932130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FAD5A-46FA-DB47-DD14-3FAF69A1FAC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A981F3-C33D-720E-54D2-924A67AC3360}"/>
              </a:ext>
            </a:extLst>
          </p:cNvPr>
          <p:cNvSpPr txBox="1"/>
          <p:nvPr/>
        </p:nvSpPr>
        <p:spPr>
          <a:xfrm>
            <a:off x="437007" y="658797"/>
            <a:ext cx="11317986" cy="4442948"/>
          </a:xfrm>
          <a:prstGeom prst="rect">
            <a:avLst/>
          </a:prstGeom>
          <a:noFill/>
        </p:spPr>
        <p:txBody>
          <a:bodyPr wrap="square">
            <a:spAutoFit/>
          </a:bodyPr>
          <a:lstStyle/>
          <a:p>
            <a:pPr algn="ctr">
              <a:lnSpc>
                <a:spcPct val="200000"/>
              </a:lnSpc>
              <a:buNone/>
            </a:pPr>
            <a:r>
              <a:rPr lang="en-US" b="1" dirty="0"/>
              <a:t>GIT Introduction</a:t>
            </a:r>
            <a:endParaRPr lang="en-US" dirty="0"/>
          </a:p>
          <a:p>
            <a:pPr>
              <a:lnSpc>
                <a:spcPct val="200000"/>
              </a:lnSpc>
              <a:buNone/>
            </a:pPr>
            <a:r>
              <a:rPr lang="en-US" dirty="0"/>
              <a:t>Git is a fast, scalable, distributed revision control system with an unusually rich command set that provides both high-level operations and full access to internals.</a:t>
            </a:r>
          </a:p>
          <a:p>
            <a:pPr>
              <a:lnSpc>
                <a:spcPct val="200000"/>
              </a:lnSpc>
              <a:buNone/>
            </a:pPr>
            <a:r>
              <a:rPr lang="en-US" b="1" dirty="0"/>
              <a:t>Distributed VCs:</a:t>
            </a:r>
            <a:endParaRPr lang="en-US" dirty="0"/>
          </a:p>
          <a:p>
            <a:pPr>
              <a:lnSpc>
                <a:spcPct val="200000"/>
              </a:lnSpc>
              <a:buFont typeface="Arial" panose="020B0604020202020204" pitchFamily="34" charset="0"/>
              <a:buChar char="•"/>
            </a:pPr>
            <a:r>
              <a:rPr lang="en-US" dirty="0"/>
              <a:t>Distributed version control (also known as distributed revision control) is a form of version control in which the complete codebase, including its full history, is mirrored on every developer's computer.</a:t>
            </a:r>
          </a:p>
          <a:p>
            <a:pPr>
              <a:lnSpc>
                <a:spcPct val="200000"/>
              </a:lnSpc>
              <a:buFont typeface="Arial" panose="020B0604020202020204" pitchFamily="34" charset="0"/>
              <a:buChar char="•"/>
            </a:pPr>
            <a:r>
              <a:rPr lang="en-US" dirty="0"/>
              <a:t>It enables automatic management branching and merging speeds up most operations (except pushing and pulling), improves the ability to work offline, and does not rely on a single location for backups.</a:t>
            </a:r>
          </a:p>
        </p:txBody>
      </p:sp>
    </p:spTree>
    <p:extLst>
      <p:ext uri="{BB962C8B-B14F-4D97-AF65-F5344CB8AC3E}">
        <p14:creationId xmlns:p14="http://schemas.microsoft.com/office/powerpoint/2010/main" val="1905578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7903F-87ED-9E57-C347-CA460B2342D1}"/>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8F8B5C0D-9EA6-E489-5CA3-C5EC5C0AA421}"/>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311F389E-B584-F037-9D54-F8688967B797}"/>
              </a:ext>
            </a:extLst>
          </p:cNvPr>
          <p:cNvSpPr>
            <a:spLocks noGrp="1"/>
          </p:cNvSpPr>
          <p:nvPr>
            <p:ph type="ctrTitle"/>
          </p:nvPr>
        </p:nvSpPr>
        <p:spPr>
          <a:xfrm>
            <a:off x="477981" y="1122362"/>
            <a:ext cx="3490515" cy="3495357"/>
          </a:xfrm>
        </p:spPr>
        <p:txBody>
          <a:bodyPr anchor="b">
            <a:normAutofit/>
          </a:bodyPr>
          <a:lstStyle/>
          <a:p>
            <a:r>
              <a:rPr lang="en-US" sz="4800" dirty="0"/>
              <a:t>Agent Pools</a:t>
            </a:r>
          </a:p>
        </p:txBody>
      </p:sp>
    </p:spTree>
    <p:extLst>
      <p:ext uri="{BB962C8B-B14F-4D97-AF65-F5344CB8AC3E}">
        <p14:creationId xmlns:p14="http://schemas.microsoft.com/office/powerpoint/2010/main" val="1277412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4B3F8-0185-E197-CF2C-6C22A72F7CE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1EA347-834C-C295-5C4E-3FD51EF92A37}"/>
              </a:ext>
            </a:extLst>
          </p:cNvPr>
          <p:cNvSpPr txBox="1"/>
          <p:nvPr/>
        </p:nvSpPr>
        <p:spPr>
          <a:xfrm>
            <a:off x="338877" y="579935"/>
            <a:ext cx="11514245" cy="6278065"/>
          </a:xfrm>
          <a:prstGeom prst="rect">
            <a:avLst/>
          </a:prstGeom>
          <a:noFill/>
        </p:spPr>
        <p:txBody>
          <a:bodyPr wrap="square">
            <a:spAutoFit/>
          </a:bodyPr>
          <a:lstStyle/>
          <a:p>
            <a:pPr>
              <a:lnSpc>
                <a:spcPct val="150000"/>
              </a:lnSpc>
            </a:pPr>
            <a:r>
              <a:rPr lang="en-US" b="1" dirty="0"/>
              <a:t>Agent Pool:</a:t>
            </a:r>
          </a:p>
          <a:p>
            <a:pPr>
              <a:lnSpc>
                <a:spcPct val="150000"/>
              </a:lnSpc>
            </a:pPr>
            <a:r>
              <a:rPr lang="en-US" dirty="0"/>
              <a:t>To build your code or deploy your software using Azure Pipelines, you need at least one agent. As you add more code and people, you'll eventually need more.</a:t>
            </a:r>
          </a:p>
          <a:p>
            <a:pPr>
              <a:lnSpc>
                <a:spcPct val="150000"/>
              </a:lnSpc>
            </a:pPr>
            <a:r>
              <a:rPr lang="en-US" dirty="0"/>
              <a:t>When your pipeline runs, the system begins one or more jobs. An agent is computing infrastructure with installed agent software that runs one job at a time.</a:t>
            </a:r>
          </a:p>
          <a:p>
            <a:pPr>
              <a:lnSpc>
                <a:spcPct val="150000"/>
              </a:lnSpc>
            </a:pPr>
            <a:endParaRPr lang="en-US" dirty="0"/>
          </a:p>
          <a:p>
            <a:pPr>
              <a:lnSpc>
                <a:spcPct val="150000"/>
              </a:lnSpc>
            </a:pPr>
            <a:r>
              <a:rPr lang="en-US" b="1" dirty="0"/>
              <a:t>Microsoft-hosted agents:</a:t>
            </a:r>
          </a:p>
          <a:p>
            <a:pPr>
              <a:lnSpc>
                <a:spcPct val="150000"/>
              </a:lnSpc>
            </a:pPr>
            <a:r>
              <a:rPr lang="en-US" dirty="0"/>
              <a:t>If your pipelines are in Azure Pipelines, then we got an option to run our jobs using a Microsoft-hosted agent.</a:t>
            </a:r>
          </a:p>
          <a:p>
            <a:pPr>
              <a:lnSpc>
                <a:spcPct val="150000"/>
              </a:lnSpc>
            </a:pPr>
            <a:r>
              <a:rPr lang="en-US" dirty="0"/>
              <a:t>With Microsoft-hosted agents, maintenance and upgrades are taken care of for us. Each time we run a pipeline, we get a fresh virtual machine for each job in the pipeline.</a:t>
            </a:r>
          </a:p>
          <a:p>
            <a:pPr>
              <a:lnSpc>
                <a:spcPct val="150000"/>
              </a:lnSpc>
            </a:pPr>
            <a:endParaRPr lang="en-US" dirty="0"/>
          </a:p>
          <a:p>
            <a:pPr>
              <a:lnSpc>
                <a:spcPct val="150000"/>
              </a:lnSpc>
            </a:pPr>
            <a:r>
              <a:rPr lang="en-US" b="1" dirty="0"/>
              <a:t>Self-hosted agents:</a:t>
            </a:r>
          </a:p>
          <a:p>
            <a:pPr>
              <a:lnSpc>
                <a:spcPct val="150000"/>
              </a:lnSpc>
            </a:pPr>
            <a:r>
              <a:rPr lang="en-US" dirty="0"/>
              <a:t>An agent that you set up and manage on your own to run jobs is a self-hosted agent.</a:t>
            </a:r>
          </a:p>
          <a:p>
            <a:pPr>
              <a:lnSpc>
                <a:spcPct val="150000"/>
              </a:lnSpc>
            </a:pPr>
            <a:r>
              <a:rPr lang="en-US" dirty="0"/>
              <a:t>Self-hosted agents give you more control to install dependent software needed for your builds and deployments.</a:t>
            </a:r>
          </a:p>
        </p:txBody>
      </p:sp>
    </p:spTree>
    <p:extLst>
      <p:ext uri="{BB962C8B-B14F-4D97-AF65-F5344CB8AC3E}">
        <p14:creationId xmlns:p14="http://schemas.microsoft.com/office/powerpoint/2010/main" val="3673676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bstract smoke background">
            <a:extLst>
              <a:ext uri="{FF2B5EF4-FFF2-40B4-BE49-F238E27FC236}">
                <a16:creationId xmlns:a16="http://schemas.microsoft.com/office/drawing/2014/main" id="{1761CAF6-D57C-2131-F2AA-041EF5D5DC38}"/>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4" name="Rectangle 23">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BCD513-374B-93CA-4E09-F8428EB0A11F}"/>
              </a:ext>
            </a:extLst>
          </p:cNvPr>
          <p:cNvSpPr>
            <a:spLocks noGrp="1"/>
          </p:cNvSpPr>
          <p:nvPr>
            <p:ph type="ctrTitle"/>
          </p:nvPr>
        </p:nvSpPr>
        <p:spPr>
          <a:xfrm>
            <a:off x="477981" y="1122363"/>
            <a:ext cx="4023360" cy="3204134"/>
          </a:xfrm>
        </p:spPr>
        <p:txBody>
          <a:bodyPr anchor="b">
            <a:normAutofit/>
          </a:bodyPr>
          <a:lstStyle/>
          <a:p>
            <a:r>
              <a:rPr lang="en-US" sz="4800" dirty="0"/>
              <a:t>ARM Templates</a:t>
            </a: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2">
              <a:lumMod val="25000"/>
              <a:lumOff val="75000"/>
            </a:schemeClr>
          </a:solidFill>
          <a:ln w="3175">
            <a:solidFill>
              <a:schemeClr val="tx2">
                <a:lumMod val="25000"/>
                <a:lumOff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9061296"/>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FA856C-AA1A-1D15-F9DD-E8E27492C2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DD6375-4FB8-F59F-2FAB-B72E080F96EA}"/>
              </a:ext>
            </a:extLst>
          </p:cNvPr>
          <p:cNvSpPr txBox="1"/>
          <p:nvPr/>
        </p:nvSpPr>
        <p:spPr>
          <a:xfrm>
            <a:off x="3048762" y="620006"/>
            <a:ext cx="6094476" cy="461665"/>
          </a:xfrm>
          <a:prstGeom prst="rect">
            <a:avLst/>
          </a:prstGeom>
          <a:noFill/>
        </p:spPr>
        <p:txBody>
          <a:bodyPr wrap="square">
            <a:spAutoFit/>
          </a:bodyPr>
          <a:lstStyle/>
          <a:p>
            <a:pPr algn="ctr"/>
            <a:r>
              <a:rPr lang="en-US" sz="2400" b="1" dirty="0"/>
              <a:t>Benefits of ARM Templates</a:t>
            </a:r>
          </a:p>
        </p:txBody>
      </p:sp>
      <p:sp>
        <p:nvSpPr>
          <p:cNvPr id="8" name="Rectangle 3">
            <a:extLst>
              <a:ext uri="{FF2B5EF4-FFF2-40B4-BE49-F238E27FC236}">
                <a16:creationId xmlns:a16="http://schemas.microsoft.com/office/drawing/2014/main" id="{64AE0E8F-22D0-1A2A-443E-6ACFBCA37723}"/>
              </a:ext>
            </a:extLst>
          </p:cNvPr>
          <p:cNvSpPr>
            <a:spLocks noChangeArrowheads="1"/>
          </p:cNvSpPr>
          <p:nvPr/>
        </p:nvSpPr>
        <p:spPr bwMode="auto">
          <a:xfrm>
            <a:off x="417576" y="1773936"/>
            <a:ext cx="1117396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FontTx/>
              <a:buChar char="•"/>
            </a:pPr>
            <a:r>
              <a:rPr lang="en-US" altLang="en-US" b="1" dirty="0">
                <a:latin typeface="Arial" panose="020B0604020202020204" pitchFamily="34" charset="0"/>
              </a:rPr>
              <a:t>Declarative automation:</a:t>
            </a:r>
            <a:r>
              <a:rPr lang="en-US" altLang="en-US" dirty="0">
                <a:latin typeface="Arial" panose="020B0604020202020204" pitchFamily="34" charset="0"/>
              </a:rPr>
              <a:t> ARM templates use JSON files. In declarative automation, you need to declare the resources but not how to create them. Creating the resources is Resource Manager's responsibility.</a:t>
            </a:r>
          </a:p>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Consistent and reusable:</a:t>
            </a:r>
            <a:r>
              <a:rPr lang="en-US" altLang="en-US" dirty="0">
                <a:latin typeface="Arial" panose="020B0604020202020204" pitchFamily="34" charset="0"/>
              </a:rPr>
              <a:t> Environments deployed via ARM template will be consistent. With the help of parameters, We can share and reuse the template to create an environment from scratch.</a:t>
            </a:r>
          </a:p>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Error-prone tasks and simplified deployment:</a:t>
            </a:r>
            <a:r>
              <a:rPr lang="en-US" altLang="en-US" dirty="0">
                <a:latin typeface="Arial" panose="020B0604020202020204" pitchFamily="34" charset="0"/>
              </a:rPr>
              <a:t> If we are creating an environment manually chances of human error will be there and with ARM templates, we can deploy all the resources we define in a single operation</a:t>
            </a:r>
          </a:p>
          <a:p>
            <a:pPr lvl="0" eaLnBrk="0" fontAlgn="base" hangingPunct="0">
              <a:spcBef>
                <a:spcPct val="0"/>
              </a:spcBef>
              <a:spcAft>
                <a:spcPct val="0"/>
              </a:spcAft>
            </a:pPr>
            <a:endParaRPr lang="en-US" altLang="en-US" dirty="0">
              <a:latin typeface="Arial" panose="020B0604020202020204" pitchFamily="34" charset="0"/>
            </a:endParaRPr>
          </a:p>
          <a:p>
            <a:pPr lvl="0" eaLnBrk="0" fontAlgn="base" hangingPunct="0">
              <a:spcBef>
                <a:spcPct val="0"/>
              </a:spcBef>
              <a:spcAft>
                <a:spcPct val="0"/>
              </a:spcAft>
              <a:buFontTx/>
              <a:buChar char="•"/>
            </a:pPr>
            <a:r>
              <a:rPr lang="en-US" altLang="en-US" b="1" dirty="0">
                <a:latin typeface="Arial" panose="020B0604020202020204" pitchFamily="34" charset="0"/>
              </a:rPr>
              <a:t>Linkable and helps complex deployment:</a:t>
            </a:r>
            <a:r>
              <a:rPr lang="en-US" altLang="en-US" dirty="0">
                <a:latin typeface="Arial" panose="020B0604020202020204" pitchFamily="34" charset="0"/>
              </a:rPr>
              <a:t> You can write small ARM templates and link them to a parent template. This helps in managing different parts of the template efficiently. With ARM templates, we can deploy complex environments in the correct dependency order.</a:t>
            </a:r>
          </a:p>
        </p:txBody>
      </p:sp>
    </p:spTree>
    <p:extLst>
      <p:ext uri="{BB962C8B-B14F-4D97-AF65-F5344CB8AC3E}">
        <p14:creationId xmlns:p14="http://schemas.microsoft.com/office/powerpoint/2010/main" val="402779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0EC0631-277A-3B4B-55BE-5911962551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316899-966C-0CFD-2205-4554E815EC64}"/>
              </a:ext>
            </a:extLst>
          </p:cNvPr>
          <p:cNvSpPr txBox="1"/>
          <p:nvPr/>
        </p:nvSpPr>
        <p:spPr>
          <a:xfrm>
            <a:off x="3048762" y="620006"/>
            <a:ext cx="6094476" cy="461665"/>
          </a:xfrm>
          <a:prstGeom prst="rect">
            <a:avLst/>
          </a:prstGeom>
          <a:noFill/>
        </p:spPr>
        <p:txBody>
          <a:bodyPr wrap="square">
            <a:spAutoFit/>
          </a:bodyPr>
          <a:lstStyle/>
          <a:p>
            <a:pPr algn="ctr"/>
            <a:r>
              <a:rPr lang="en-US" sz="2400" b="1" dirty="0"/>
              <a:t>ARM Template Composition</a:t>
            </a:r>
          </a:p>
        </p:txBody>
      </p:sp>
      <p:sp>
        <p:nvSpPr>
          <p:cNvPr id="4" name="TextBox 3">
            <a:extLst>
              <a:ext uri="{FF2B5EF4-FFF2-40B4-BE49-F238E27FC236}">
                <a16:creationId xmlns:a16="http://schemas.microsoft.com/office/drawing/2014/main" id="{701AACC8-007C-48AC-1393-2D70A9F1EC08}"/>
              </a:ext>
            </a:extLst>
          </p:cNvPr>
          <p:cNvSpPr txBox="1"/>
          <p:nvPr/>
        </p:nvSpPr>
        <p:spPr>
          <a:xfrm>
            <a:off x="578358" y="1372261"/>
            <a:ext cx="4542282" cy="5078313"/>
          </a:xfrm>
          <a:prstGeom prst="rect">
            <a:avLst/>
          </a:prstGeom>
          <a:noFill/>
        </p:spPr>
        <p:txBody>
          <a:bodyPr wrap="square">
            <a:spAutoFit/>
          </a:bodyPr>
          <a:lstStyle/>
          <a:p>
            <a:r>
              <a:rPr lang="en-US" b="1" dirty="0"/>
              <a:t>schema:</a:t>
            </a:r>
            <a:r>
              <a:rPr lang="en-US" dirty="0"/>
              <a:t> References the location of the JSON file schema that describes the version of the template language. We can deploy ARM templates to different scopes like tenants, management groups, and subscriptions; based on the scope that we are selecting the schema will change.</a:t>
            </a:r>
          </a:p>
          <a:p>
            <a:endParaRPr lang="en-US" dirty="0"/>
          </a:p>
          <a:p>
            <a:r>
              <a:rPr lang="en-US" b="1" dirty="0"/>
              <a:t>Content Version:</a:t>
            </a:r>
            <a:r>
              <a:rPr lang="en-US" dirty="0"/>
              <a:t> Used to version the template, the default value is 1.0.0.0. Any value can be given to this element. Content version is useful if you are storing your templates in source control and would like to keep the changes tracked in different versions. Proper versioning will help users to pick the latest version of your template.</a:t>
            </a:r>
          </a:p>
        </p:txBody>
      </p:sp>
      <p:pic>
        <p:nvPicPr>
          <p:cNvPr id="6" name="Picture 5">
            <a:extLst>
              <a:ext uri="{FF2B5EF4-FFF2-40B4-BE49-F238E27FC236}">
                <a16:creationId xmlns:a16="http://schemas.microsoft.com/office/drawing/2014/main" id="{23026167-DCE3-9280-D3C7-0D63D7310635}"/>
              </a:ext>
            </a:extLst>
          </p:cNvPr>
          <p:cNvPicPr>
            <a:picLocks noChangeAspect="1"/>
          </p:cNvPicPr>
          <p:nvPr/>
        </p:nvPicPr>
        <p:blipFill>
          <a:blip r:embed="rId2"/>
          <a:stretch>
            <a:fillRect/>
          </a:stretch>
        </p:blipFill>
        <p:spPr>
          <a:xfrm>
            <a:off x="5687753" y="1928938"/>
            <a:ext cx="5534797" cy="933580"/>
          </a:xfrm>
          <a:prstGeom prst="rect">
            <a:avLst/>
          </a:prstGeom>
        </p:spPr>
      </p:pic>
      <p:pic>
        <p:nvPicPr>
          <p:cNvPr id="9" name="Picture 8">
            <a:extLst>
              <a:ext uri="{FF2B5EF4-FFF2-40B4-BE49-F238E27FC236}">
                <a16:creationId xmlns:a16="http://schemas.microsoft.com/office/drawing/2014/main" id="{34CB1741-542A-4037-B40D-B55FDFE71B7C}"/>
              </a:ext>
            </a:extLst>
          </p:cNvPr>
          <p:cNvPicPr>
            <a:picLocks noChangeAspect="1"/>
          </p:cNvPicPr>
          <p:nvPr/>
        </p:nvPicPr>
        <p:blipFill>
          <a:blip r:embed="rId3"/>
          <a:stretch>
            <a:fillRect/>
          </a:stretch>
        </p:blipFill>
        <p:spPr>
          <a:xfrm>
            <a:off x="5687753" y="5160035"/>
            <a:ext cx="5239481" cy="543001"/>
          </a:xfrm>
          <a:prstGeom prst="rect">
            <a:avLst/>
          </a:prstGeom>
        </p:spPr>
      </p:pic>
    </p:spTree>
    <p:extLst>
      <p:ext uri="{BB962C8B-B14F-4D97-AF65-F5344CB8AC3E}">
        <p14:creationId xmlns:p14="http://schemas.microsoft.com/office/powerpoint/2010/main" val="1084015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583C7F-7406-1743-4AEC-C637B60231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DD5189-73B3-1DBF-9C1E-368188269C1F}"/>
              </a:ext>
            </a:extLst>
          </p:cNvPr>
          <p:cNvSpPr txBox="1"/>
          <p:nvPr/>
        </p:nvSpPr>
        <p:spPr>
          <a:xfrm>
            <a:off x="3048762" y="620006"/>
            <a:ext cx="6094476" cy="461665"/>
          </a:xfrm>
          <a:prstGeom prst="rect">
            <a:avLst/>
          </a:prstGeom>
          <a:noFill/>
        </p:spPr>
        <p:txBody>
          <a:bodyPr wrap="square">
            <a:spAutoFit/>
          </a:bodyPr>
          <a:lstStyle/>
          <a:p>
            <a:pPr algn="ctr"/>
            <a:r>
              <a:rPr lang="en-US" sz="2400" b="1" dirty="0"/>
              <a:t>ARM Template Composition</a:t>
            </a:r>
          </a:p>
        </p:txBody>
      </p:sp>
      <p:sp>
        <p:nvSpPr>
          <p:cNvPr id="4" name="TextBox 3">
            <a:extLst>
              <a:ext uri="{FF2B5EF4-FFF2-40B4-BE49-F238E27FC236}">
                <a16:creationId xmlns:a16="http://schemas.microsoft.com/office/drawing/2014/main" id="{4E724F65-FB3C-10DE-B458-2404CDA2387B}"/>
              </a:ext>
            </a:extLst>
          </p:cNvPr>
          <p:cNvSpPr txBox="1"/>
          <p:nvPr/>
        </p:nvSpPr>
        <p:spPr>
          <a:xfrm>
            <a:off x="395478" y="1455719"/>
            <a:ext cx="4752594" cy="4247317"/>
          </a:xfrm>
          <a:prstGeom prst="rect">
            <a:avLst/>
          </a:prstGeom>
          <a:noFill/>
        </p:spPr>
        <p:txBody>
          <a:bodyPr wrap="square">
            <a:spAutoFit/>
          </a:bodyPr>
          <a:lstStyle/>
          <a:p>
            <a:r>
              <a:rPr lang="en-US" b="1" dirty="0"/>
              <a:t>Parameters</a:t>
            </a:r>
            <a:r>
              <a:rPr lang="en-US" dirty="0"/>
              <a:t>:</a:t>
            </a:r>
          </a:p>
          <a:p>
            <a:r>
              <a:rPr lang="en-US" dirty="0"/>
              <a:t>During resource deployment, the parameter value can be provided as input to the template. Parameters help making the templates reusable, where users can supply different values during execution without the need to modify the template.</a:t>
            </a:r>
          </a:p>
          <a:p>
            <a:endParaRPr lang="en-US" dirty="0"/>
          </a:p>
          <a:p>
            <a:r>
              <a:rPr lang="en-US" b="1" dirty="0"/>
              <a:t>Variables</a:t>
            </a:r>
            <a:r>
              <a:rPr lang="en-US" dirty="0"/>
              <a:t>:</a:t>
            </a:r>
          </a:p>
          <a:p>
            <a:r>
              <a:rPr lang="en-US" dirty="0"/>
              <a:t>Variables can be used to hardcode values to the templates. If you are referencing a value with the help of variables and if that value needs to be modified; instead of updating all occurrences, you just need to update the value of the variable.</a:t>
            </a:r>
          </a:p>
        </p:txBody>
      </p:sp>
      <p:pic>
        <p:nvPicPr>
          <p:cNvPr id="8" name="Picture 7">
            <a:extLst>
              <a:ext uri="{FF2B5EF4-FFF2-40B4-BE49-F238E27FC236}">
                <a16:creationId xmlns:a16="http://schemas.microsoft.com/office/drawing/2014/main" id="{2ADE9040-7F35-9270-8D77-E6E79DDE052E}"/>
              </a:ext>
            </a:extLst>
          </p:cNvPr>
          <p:cNvPicPr>
            <a:picLocks noChangeAspect="1"/>
          </p:cNvPicPr>
          <p:nvPr/>
        </p:nvPicPr>
        <p:blipFill>
          <a:blip r:embed="rId2"/>
          <a:stretch>
            <a:fillRect/>
          </a:stretch>
        </p:blipFill>
        <p:spPr>
          <a:xfrm>
            <a:off x="5412096" y="1455719"/>
            <a:ext cx="6050364" cy="4498314"/>
          </a:xfrm>
          <a:prstGeom prst="rect">
            <a:avLst/>
          </a:prstGeom>
        </p:spPr>
      </p:pic>
    </p:spTree>
    <p:extLst>
      <p:ext uri="{BB962C8B-B14F-4D97-AF65-F5344CB8AC3E}">
        <p14:creationId xmlns:p14="http://schemas.microsoft.com/office/powerpoint/2010/main" val="954084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ECC9C6-125F-4FBD-7232-347426EC0F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FA8BD4-7B13-6F68-1260-0D379E97A01F}"/>
              </a:ext>
            </a:extLst>
          </p:cNvPr>
          <p:cNvSpPr txBox="1"/>
          <p:nvPr/>
        </p:nvSpPr>
        <p:spPr>
          <a:xfrm>
            <a:off x="3048762" y="620006"/>
            <a:ext cx="6094476" cy="461665"/>
          </a:xfrm>
          <a:prstGeom prst="rect">
            <a:avLst/>
          </a:prstGeom>
          <a:noFill/>
        </p:spPr>
        <p:txBody>
          <a:bodyPr wrap="square">
            <a:spAutoFit/>
          </a:bodyPr>
          <a:lstStyle/>
          <a:p>
            <a:pPr algn="ctr"/>
            <a:r>
              <a:rPr lang="en-US" sz="2400" b="1" dirty="0"/>
              <a:t>ARM Template Composition</a:t>
            </a:r>
          </a:p>
        </p:txBody>
      </p:sp>
      <p:sp>
        <p:nvSpPr>
          <p:cNvPr id="4" name="TextBox 3">
            <a:extLst>
              <a:ext uri="{FF2B5EF4-FFF2-40B4-BE49-F238E27FC236}">
                <a16:creationId xmlns:a16="http://schemas.microsoft.com/office/drawing/2014/main" id="{F44EC697-5C9F-E903-CF24-4589360BBEF5}"/>
              </a:ext>
            </a:extLst>
          </p:cNvPr>
          <p:cNvSpPr txBox="1"/>
          <p:nvPr/>
        </p:nvSpPr>
        <p:spPr>
          <a:xfrm>
            <a:off x="395478" y="1455719"/>
            <a:ext cx="4752594" cy="4801314"/>
          </a:xfrm>
          <a:prstGeom prst="rect">
            <a:avLst/>
          </a:prstGeom>
          <a:noFill/>
        </p:spPr>
        <p:txBody>
          <a:bodyPr wrap="square">
            <a:spAutoFit/>
          </a:bodyPr>
          <a:lstStyle/>
          <a:p>
            <a:r>
              <a:rPr lang="en-US" b="1" dirty="0"/>
              <a:t>Functions</a:t>
            </a:r>
            <a:r>
              <a:rPr lang="en-US" dirty="0"/>
              <a:t>:</a:t>
            </a:r>
          </a:p>
          <a:p>
            <a:r>
              <a:rPr lang="en-US" dirty="0"/>
              <a:t>We can create user-defined functions in ARM templates that can be used to replace repeated code blocks.</a:t>
            </a:r>
          </a:p>
          <a:p>
            <a:endParaRPr lang="en-US" dirty="0"/>
          </a:p>
          <a:p>
            <a:endParaRPr lang="en-US" dirty="0"/>
          </a:p>
          <a:p>
            <a:r>
              <a:rPr lang="en-US" b="1" dirty="0"/>
              <a:t>Resources</a:t>
            </a:r>
            <a:r>
              <a:rPr lang="en-US" dirty="0"/>
              <a:t>:</a:t>
            </a:r>
          </a:p>
          <a:p>
            <a:r>
              <a:rPr lang="en-US" dirty="0"/>
              <a:t>Resources we intend to create, or update will be declared inside this element. Here, we can reference the parameters, variables, and functions we created earlier.</a:t>
            </a:r>
          </a:p>
          <a:p>
            <a:endParaRPr lang="en-US" dirty="0"/>
          </a:p>
          <a:p>
            <a:endParaRPr lang="en-US" dirty="0"/>
          </a:p>
          <a:p>
            <a:endParaRPr lang="en-US" dirty="0"/>
          </a:p>
          <a:p>
            <a:r>
              <a:rPr lang="en-US" b="1" dirty="0"/>
              <a:t>Outputs</a:t>
            </a:r>
            <a:r>
              <a:rPr lang="en-US" dirty="0"/>
              <a:t>:</a:t>
            </a:r>
          </a:p>
          <a:p>
            <a:r>
              <a:rPr lang="en-US" dirty="0"/>
              <a:t>Display values that are returned after deployment.</a:t>
            </a:r>
          </a:p>
        </p:txBody>
      </p:sp>
      <p:pic>
        <p:nvPicPr>
          <p:cNvPr id="5" name="Picture 4">
            <a:extLst>
              <a:ext uri="{FF2B5EF4-FFF2-40B4-BE49-F238E27FC236}">
                <a16:creationId xmlns:a16="http://schemas.microsoft.com/office/drawing/2014/main" id="{F84981B5-2CD4-1501-05EC-789B3FECFA92}"/>
              </a:ext>
            </a:extLst>
          </p:cNvPr>
          <p:cNvPicPr>
            <a:picLocks noChangeAspect="1"/>
          </p:cNvPicPr>
          <p:nvPr/>
        </p:nvPicPr>
        <p:blipFill>
          <a:blip r:embed="rId2"/>
          <a:stretch>
            <a:fillRect/>
          </a:stretch>
        </p:blipFill>
        <p:spPr>
          <a:xfrm>
            <a:off x="6626361" y="1388022"/>
            <a:ext cx="3371601" cy="3676688"/>
          </a:xfrm>
          <a:prstGeom prst="rect">
            <a:avLst/>
          </a:prstGeom>
        </p:spPr>
      </p:pic>
      <p:pic>
        <p:nvPicPr>
          <p:cNvPr id="8" name="Picture 7">
            <a:extLst>
              <a:ext uri="{FF2B5EF4-FFF2-40B4-BE49-F238E27FC236}">
                <a16:creationId xmlns:a16="http://schemas.microsoft.com/office/drawing/2014/main" id="{897DA4E1-7C67-8FD0-94C6-912387B8ACEB}"/>
              </a:ext>
            </a:extLst>
          </p:cNvPr>
          <p:cNvPicPr>
            <a:picLocks noChangeAspect="1"/>
          </p:cNvPicPr>
          <p:nvPr/>
        </p:nvPicPr>
        <p:blipFill>
          <a:blip r:embed="rId3"/>
          <a:stretch>
            <a:fillRect/>
          </a:stretch>
        </p:blipFill>
        <p:spPr>
          <a:xfrm>
            <a:off x="6013475" y="5064710"/>
            <a:ext cx="4597375" cy="1420742"/>
          </a:xfrm>
          <a:prstGeom prst="rect">
            <a:avLst/>
          </a:prstGeom>
        </p:spPr>
      </p:pic>
    </p:spTree>
    <p:extLst>
      <p:ext uri="{BB962C8B-B14F-4D97-AF65-F5344CB8AC3E}">
        <p14:creationId xmlns:p14="http://schemas.microsoft.com/office/powerpoint/2010/main" val="4279994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5E0BA-4135-8905-3E74-64D9CC4F95C3}"/>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C435CAD6-880E-C85A-9F77-0974EDC2D576}"/>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E08950B6-600B-36EB-A36F-C847094447DB}"/>
              </a:ext>
            </a:extLst>
          </p:cNvPr>
          <p:cNvSpPr>
            <a:spLocks noGrp="1"/>
          </p:cNvSpPr>
          <p:nvPr>
            <p:ph type="ctrTitle"/>
          </p:nvPr>
        </p:nvSpPr>
        <p:spPr>
          <a:xfrm>
            <a:off x="477981" y="1122363"/>
            <a:ext cx="4023360" cy="3204134"/>
          </a:xfrm>
        </p:spPr>
        <p:txBody>
          <a:bodyPr anchor="b">
            <a:normAutofit/>
          </a:bodyPr>
          <a:lstStyle/>
          <a:p>
            <a:r>
              <a:rPr lang="en-US" sz="4800" dirty="0"/>
              <a:t>Bicep</a:t>
            </a:r>
          </a:p>
        </p:txBody>
      </p:sp>
    </p:spTree>
    <p:extLst>
      <p:ext uri="{BB962C8B-B14F-4D97-AF65-F5344CB8AC3E}">
        <p14:creationId xmlns:p14="http://schemas.microsoft.com/office/powerpoint/2010/main" val="2031027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761B3-B669-3564-84DB-8F113D1995E2}"/>
            </a:ext>
          </a:extLst>
        </p:cNvPr>
        <p:cNvGrpSpPr/>
        <p:nvPr/>
      </p:nvGrpSpPr>
      <p:grpSpPr>
        <a:xfrm>
          <a:off x="0" y="0"/>
          <a:ext cx="0" cy="0"/>
          <a:chOff x="0" y="0"/>
          <a:chExt cx="0" cy="0"/>
        </a:xfrm>
      </p:grpSpPr>
      <p:pic>
        <p:nvPicPr>
          <p:cNvPr id="1026" name="Picture 2" descr="Azure Resource Manager | SpringerLink">
            <a:extLst>
              <a:ext uri="{FF2B5EF4-FFF2-40B4-BE49-F238E27FC236}">
                <a16:creationId xmlns:a16="http://schemas.microsoft.com/office/drawing/2014/main" id="{6B3E6BE2-4E60-F218-C410-84DA37539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8182" y="1381307"/>
            <a:ext cx="9337954" cy="492117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5454E10-1A5D-2FB6-BD34-DFA638FCDE68}"/>
              </a:ext>
            </a:extLst>
          </p:cNvPr>
          <p:cNvSpPr txBox="1"/>
          <p:nvPr/>
        </p:nvSpPr>
        <p:spPr>
          <a:xfrm>
            <a:off x="452284" y="80776"/>
            <a:ext cx="6096000" cy="584775"/>
          </a:xfrm>
          <a:prstGeom prst="rect">
            <a:avLst/>
          </a:prstGeom>
          <a:noFill/>
        </p:spPr>
        <p:txBody>
          <a:bodyPr wrap="square">
            <a:spAutoFit/>
          </a:bodyPr>
          <a:lstStyle/>
          <a:p>
            <a:r>
              <a:rPr lang="en-US" sz="3200" b="1" dirty="0">
                <a:highlight>
                  <a:srgbClr val="00FF00"/>
                </a:highlight>
              </a:rPr>
              <a:t>ARM </a:t>
            </a:r>
            <a:r>
              <a:rPr lang="en-US" sz="3200" b="1" dirty="0" err="1">
                <a:highlight>
                  <a:srgbClr val="00FF00"/>
                </a:highlight>
              </a:rPr>
              <a:t>Archiecture</a:t>
            </a:r>
            <a:endParaRPr lang="en-IN" sz="3200" dirty="0"/>
          </a:p>
        </p:txBody>
      </p:sp>
    </p:spTree>
    <p:extLst>
      <p:ext uri="{BB962C8B-B14F-4D97-AF65-F5344CB8AC3E}">
        <p14:creationId xmlns:p14="http://schemas.microsoft.com/office/powerpoint/2010/main" val="2868407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C5C6-74DE-2818-0F6F-3D331FE0E6C3}"/>
            </a:ext>
          </a:extLst>
        </p:cNvPr>
        <p:cNvGrpSpPr/>
        <p:nvPr/>
      </p:nvGrpSpPr>
      <p:grpSpPr>
        <a:xfrm>
          <a:off x="0" y="0"/>
          <a:ext cx="0" cy="0"/>
          <a:chOff x="0" y="0"/>
          <a:chExt cx="0" cy="0"/>
        </a:xfrm>
      </p:grpSpPr>
      <p:pic>
        <p:nvPicPr>
          <p:cNvPr id="2050" name="Picture 2" descr="Use Bicep to Deploy Dapr Microservices Apps to Azure Container Apps - Part  10 - Bit of Technology">
            <a:extLst>
              <a:ext uri="{FF2B5EF4-FFF2-40B4-BE49-F238E27FC236}">
                <a16:creationId xmlns:a16="http://schemas.microsoft.com/office/drawing/2014/main" id="{58A003A4-6213-2CD2-67B7-535CB534D3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343" y="744689"/>
            <a:ext cx="9293173" cy="57401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8968432-2639-FFE3-9556-C38F8F50E7D6}"/>
              </a:ext>
            </a:extLst>
          </p:cNvPr>
          <p:cNvSpPr txBox="1"/>
          <p:nvPr/>
        </p:nvSpPr>
        <p:spPr>
          <a:xfrm>
            <a:off x="452284" y="80776"/>
            <a:ext cx="6096000" cy="584775"/>
          </a:xfrm>
          <a:prstGeom prst="rect">
            <a:avLst/>
          </a:prstGeom>
          <a:noFill/>
        </p:spPr>
        <p:txBody>
          <a:bodyPr wrap="square">
            <a:spAutoFit/>
          </a:bodyPr>
          <a:lstStyle/>
          <a:p>
            <a:r>
              <a:rPr lang="en-US" sz="3200" b="1" dirty="0">
                <a:highlight>
                  <a:srgbClr val="00FF00"/>
                </a:highlight>
              </a:rPr>
              <a:t>Bicep</a:t>
            </a:r>
            <a:endParaRPr lang="en-IN" sz="3200" dirty="0"/>
          </a:p>
        </p:txBody>
      </p:sp>
    </p:spTree>
    <p:extLst>
      <p:ext uri="{BB962C8B-B14F-4D97-AF65-F5344CB8AC3E}">
        <p14:creationId xmlns:p14="http://schemas.microsoft.com/office/powerpoint/2010/main" val="3142823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4EA37-B16C-4008-E603-88E5DCE4613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47B580-F393-414E-84EC-12A77C634E8F}"/>
              </a:ext>
            </a:extLst>
          </p:cNvPr>
          <p:cNvSpPr txBox="1"/>
          <p:nvPr/>
        </p:nvSpPr>
        <p:spPr>
          <a:xfrm>
            <a:off x="462116" y="179128"/>
            <a:ext cx="9674942" cy="461665"/>
          </a:xfrm>
          <a:prstGeom prst="rect">
            <a:avLst/>
          </a:prstGeom>
          <a:noFill/>
        </p:spPr>
        <p:txBody>
          <a:bodyPr wrap="square">
            <a:spAutoFit/>
          </a:bodyPr>
          <a:lstStyle/>
          <a:p>
            <a:r>
              <a:rPr lang="en-US" sz="2400" b="1" dirty="0">
                <a:highlight>
                  <a:srgbClr val="00FF00"/>
                </a:highlight>
              </a:rPr>
              <a:t>Relationship Between Bicep &amp; Azure Resource Manager</a:t>
            </a:r>
            <a:endParaRPr lang="en-IN" sz="2400" b="1" dirty="0">
              <a:highlight>
                <a:srgbClr val="00FF00"/>
              </a:highlight>
            </a:endParaRPr>
          </a:p>
        </p:txBody>
      </p:sp>
      <p:sp>
        <p:nvSpPr>
          <p:cNvPr id="7" name="TextBox 6">
            <a:extLst>
              <a:ext uri="{FF2B5EF4-FFF2-40B4-BE49-F238E27FC236}">
                <a16:creationId xmlns:a16="http://schemas.microsoft.com/office/drawing/2014/main" id="{96104937-52D9-E2D1-462E-34D02DE0FEAA}"/>
              </a:ext>
            </a:extLst>
          </p:cNvPr>
          <p:cNvSpPr txBox="1"/>
          <p:nvPr/>
        </p:nvSpPr>
        <p:spPr>
          <a:xfrm>
            <a:off x="304798" y="1236773"/>
            <a:ext cx="9163665" cy="1477328"/>
          </a:xfrm>
          <a:prstGeom prst="rect">
            <a:avLst/>
          </a:prstGeom>
          <a:noFill/>
        </p:spPr>
        <p:txBody>
          <a:bodyPr wrap="square">
            <a:spAutoFit/>
          </a:bodyPr>
          <a:lstStyle/>
          <a:p>
            <a:pPr>
              <a:buNone/>
            </a:pPr>
            <a:r>
              <a:rPr lang="en-US" b="1" dirty="0"/>
              <a:t>Azure Resource Manager (ARM)</a:t>
            </a:r>
          </a:p>
          <a:p>
            <a:pPr marL="285750" indent="-285750">
              <a:buFont typeface="Arial" panose="020B0604020202020204" pitchFamily="34" charset="0"/>
              <a:buChar char="•"/>
            </a:pPr>
            <a:r>
              <a:rPr lang="en-US" dirty="0"/>
              <a:t>ARM is the </a:t>
            </a:r>
            <a:r>
              <a:rPr lang="en-US" b="1" dirty="0"/>
              <a:t>brain of Azure</a:t>
            </a:r>
            <a:r>
              <a:rPr lang="en-US" dirty="0"/>
              <a:t>.</a:t>
            </a:r>
            <a:br>
              <a:rPr lang="en-US" dirty="0"/>
            </a:br>
            <a:r>
              <a:rPr lang="en-US" dirty="0"/>
              <a:t>It </a:t>
            </a:r>
            <a:r>
              <a:rPr lang="en-US" b="1" dirty="0"/>
              <a:t>deploys</a:t>
            </a:r>
            <a:r>
              <a:rPr lang="en-US" dirty="0"/>
              <a:t>, </a:t>
            </a:r>
            <a:r>
              <a:rPr lang="en-US" b="1" dirty="0"/>
              <a:t>manages</a:t>
            </a:r>
            <a:r>
              <a:rPr lang="en-US" dirty="0"/>
              <a:t>, and </a:t>
            </a:r>
            <a:r>
              <a:rPr lang="en-US" b="1" dirty="0"/>
              <a:t>configures</a:t>
            </a:r>
            <a:r>
              <a:rPr lang="en-US" dirty="0"/>
              <a:t> all Azure resources.</a:t>
            </a:r>
          </a:p>
          <a:p>
            <a:endParaRPr lang="en-US" dirty="0"/>
          </a:p>
          <a:p>
            <a:pPr marL="285750" indent="-285750">
              <a:buFont typeface="Arial" panose="020B0604020202020204" pitchFamily="34" charset="0"/>
              <a:buChar char="•"/>
            </a:pPr>
            <a:r>
              <a:rPr lang="en-US" dirty="0"/>
              <a:t>ARM templates (JSON) are the </a:t>
            </a:r>
            <a:r>
              <a:rPr lang="en-US" b="1" dirty="0"/>
              <a:t>language ARM understands</a:t>
            </a:r>
            <a:r>
              <a:rPr lang="en-US" dirty="0"/>
              <a:t>.</a:t>
            </a:r>
          </a:p>
        </p:txBody>
      </p:sp>
      <p:sp>
        <p:nvSpPr>
          <p:cNvPr id="9" name="TextBox 8">
            <a:extLst>
              <a:ext uri="{FF2B5EF4-FFF2-40B4-BE49-F238E27FC236}">
                <a16:creationId xmlns:a16="http://schemas.microsoft.com/office/drawing/2014/main" id="{A9F85305-90DB-26A3-5857-1C8011E751FD}"/>
              </a:ext>
            </a:extLst>
          </p:cNvPr>
          <p:cNvSpPr txBox="1"/>
          <p:nvPr/>
        </p:nvSpPr>
        <p:spPr>
          <a:xfrm>
            <a:off x="304798" y="3052349"/>
            <a:ext cx="7502015" cy="2862322"/>
          </a:xfrm>
          <a:prstGeom prst="rect">
            <a:avLst/>
          </a:prstGeom>
          <a:noFill/>
        </p:spPr>
        <p:txBody>
          <a:bodyPr wrap="square">
            <a:spAutoFit/>
          </a:bodyPr>
          <a:lstStyle/>
          <a:p>
            <a:pPr>
              <a:buNone/>
            </a:pPr>
            <a:r>
              <a:rPr lang="en-IN" b="1" dirty="0"/>
              <a:t>Where does Bicep come in?</a:t>
            </a:r>
          </a:p>
          <a:p>
            <a:pPr marL="285750" indent="-285750">
              <a:buFont typeface="Arial" panose="020B0604020202020204" pitchFamily="34" charset="0"/>
              <a:buChar char="•"/>
            </a:pPr>
            <a:r>
              <a:rPr lang="en-IN" dirty="0"/>
              <a:t>Bicep is a </a:t>
            </a:r>
            <a:r>
              <a:rPr lang="en-IN" b="1" dirty="0"/>
              <a:t>simplified language</a:t>
            </a:r>
            <a:r>
              <a:rPr lang="en-IN" dirty="0"/>
              <a:t> for ARM.</a:t>
            </a:r>
          </a:p>
          <a:p>
            <a:pPr marL="285750" indent="-285750">
              <a:buFont typeface="Arial" panose="020B0604020202020204" pitchFamily="34" charset="0"/>
              <a:buChar char="•"/>
            </a:pPr>
            <a:r>
              <a:rPr lang="en-IN" dirty="0"/>
              <a:t>ARM </a:t>
            </a:r>
            <a:r>
              <a:rPr lang="en-IN" b="1" dirty="0"/>
              <a:t>only understands JSON</a:t>
            </a:r>
            <a:r>
              <a:rPr lang="en-IN" dirty="0"/>
              <a:t>, but JSON is:</a:t>
            </a:r>
          </a:p>
          <a:p>
            <a:pPr lvl="1">
              <a:buFont typeface="Arial" panose="020B0604020202020204" pitchFamily="34" charset="0"/>
              <a:buChar char="•"/>
            </a:pPr>
            <a:r>
              <a:rPr lang="en-IN" dirty="0"/>
              <a:t>👉 Hard to write</a:t>
            </a:r>
          </a:p>
          <a:p>
            <a:pPr lvl="1">
              <a:buFont typeface="Arial" panose="020B0604020202020204" pitchFamily="34" charset="0"/>
              <a:buChar char="•"/>
            </a:pPr>
            <a:r>
              <a:rPr lang="en-IN" dirty="0"/>
              <a:t>👉 Hard to read</a:t>
            </a:r>
          </a:p>
          <a:p>
            <a:pPr lvl="1">
              <a:buFont typeface="Arial" panose="020B0604020202020204" pitchFamily="34" charset="0"/>
              <a:buChar char="•"/>
            </a:pPr>
            <a:r>
              <a:rPr lang="en-IN" dirty="0"/>
              <a:t>👉 Hard to maintain</a:t>
            </a:r>
          </a:p>
          <a:p>
            <a:pPr marL="285750" indent="-285750">
              <a:buFont typeface="Arial" panose="020B0604020202020204" pitchFamily="34" charset="0"/>
              <a:buChar char="•"/>
            </a:pPr>
            <a:r>
              <a:rPr lang="en-IN" dirty="0"/>
              <a:t>So Microsoft built </a:t>
            </a:r>
            <a:r>
              <a:rPr lang="en-IN" b="1" dirty="0"/>
              <a:t>Bicep</a:t>
            </a:r>
            <a:r>
              <a:rPr lang="en-IN" dirty="0"/>
              <a:t>:</a:t>
            </a:r>
          </a:p>
          <a:p>
            <a:pPr marL="285750" indent="-285750">
              <a:buFont typeface="Arial" panose="020B0604020202020204" pitchFamily="34" charset="0"/>
              <a:buChar char="•"/>
            </a:pPr>
            <a:r>
              <a:rPr lang="en-IN" dirty="0"/>
              <a:t>You write </a:t>
            </a:r>
            <a:r>
              <a:rPr lang="en-IN" b="1" dirty="0"/>
              <a:t>Bicep code</a:t>
            </a:r>
          </a:p>
          <a:p>
            <a:pPr marL="285750" indent="-285750">
              <a:buFont typeface="Arial" panose="020B0604020202020204" pitchFamily="34" charset="0"/>
              <a:buChar char="•"/>
            </a:pPr>
            <a:r>
              <a:rPr lang="en-IN" dirty="0"/>
              <a:t>Bicep automatically converts to </a:t>
            </a:r>
            <a:r>
              <a:rPr lang="en-IN" b="1" dirty="0"/>
              <a:t>ARM JSON</a:t>
            </a:r>
          </a:p>
          <a:p>
            <a:pPr marL="285750" indent="-285750">
              <a:buFont typeface="Arial" panose="020B0604020202020204" pitchFamily="34" charset="0"/>
              <a:buChar char="•"/>
            </a:pPr>
            <a:r>
              <a:rPr lang="en-IN" dirty="0"/>
              <a:t>ARM deploys to Azure</a:t>
            </a:r>
          </a:p>
        </p:txBody>
      </p:sp>
      <p:sp>
        <p:nvSpPr>
          <p:cNvPr id="11" name="TextBox 10">
            <a:extLst>
              <a:ext uri="{FF2B5EF4-FFF2-40B4-BE49-F238E27FC236}">
                <a16:creationId xmlns:a16="http://schemas.microsoft.com/office/drawing/2014/main" id="{266FCB5B-B76F-FE5E-3283-4F6344A70833}"/>
              </a:ext>
            </a:extLst>
          </p:cNvPr>
          <p:cNvSpPr txBox="1"/>
          <p:nvPr/>
        </p:nvSpPr>
        <p:spPr>
          <a:xfrm>
            <a:off x="7806813" y="1975437"/>
            <a:ext cx="3962401" cy="2031325"/>
          </a:xfrm>
          <a:prstGeom prst="rect">
            <a:avLst/>
          </a:prstGeom>
          <a:noFill/>
          <a:ln>
            <a:solidFill>
              <a:schemeClr val="tx1"/>
            </a:solidFill>
          </a:ln>
        </p:spPr>
        <p:txBody>
          <a:bodyPr wrap="square">
            <a:spAutoFit/>
          </a:bodyPr>
          <a:lstStyle/>
          <a:p>
            <a:r>
              <a:rPr lang="en-IN" dirty="0"/>
              <a:t>Your Code → </a:t>
            </a:r>
            <a:r>
              <a:rPr lang="en-IN" dirty="0">
                <a:highlight>
                  <a:srgbClr val="00FF00"/>
                </a:highlight>
              </a:rPr>
              <a:t>Bicep File (.bicep)</a:t>
            </a:r>
          </a:p>
          <a:p>
            <a:r>
              <a:rPr lang="en-IN" dirty="0"/>
              <a:t>               ↓ (automatically converted)</a:t>
            </a:r>
          </a:p>
          <a:p>
            <a:r>
              <a:rPr lang="en-IN" dirty="0"/>
              <a:t>        </a:t>
            </a:r>
            <a:r>
              <a:rPr lang="en-IN" dirty="0">
                <a:highlight>
                  <a:srgbClr val="00FF00"/>
                </a:highlight>
              </a:rPr>
              <a:t>ARM Template (.</a:t>
            </a:r>
            <a:r>
              <a:rPr lang="en-IN" dirty="0" err="1">
                <a:highlight>
                  <a:srgbClr val="00FF00"/>
                </a:highlight>
              </a:rPr>
              <a:t>json</a:t>
            </a:r>
            <a:r>
              <a:rPr lang="en-IN" dirty="0">
                <a:highlight>
                  <a:srgbClr val="00FF00"/>
                </a:highlight>
              </a:rPr>
              <a:t>)</a:t>
            </a:r>
          </a:p>
          <a:p>
            <a:r>
              <a:rPr lang="en-IN" dirty="0"/>
              <a:t>               ↓</a:t>
            </a:r>
          </a:p>
          <a:p>
            <a:r>
              <a:rPr lang="en-IN" dirty="0"/>
              <a:t>     </a:t>
            </a:r>
            <a:r>
              <a:rPr lang="en-IN" dirty="0">
                <a:highlight>
                  <a:srgbClr val="00FF00"/>
                </a:highlight>
              </a:rPr>
              <a:t>Azure Resource Manager</a:t>
            </a:r>
          </a:p>
          <a:p>
            <a:r>
              <a:rPr lang="en-IN" dirty="0"/>
              <a:t>               ↓</a:t>
            </a:r>
          </a:p>
          <a:p>
            <a:r>
              <a:rPr lang="en-IN" dirty="0"/>
              <a:t>      </a:t>
            </a:r>
            <a:r>
              <a:rPr lang="en-IN" dirty="0">
                <a:highlight>
                  <a:srgbClr val="00FF00"/>
                </a:highlight>
              </a:rPr>
              <a:t>Azure Resources Deployed</a:t>
            </a:r>
          </a:p>
        </p:txBody>
      </p:sp>
    </p:spTree>
    <p:extLst>
      <p:ext uri="{BB962C8B-B14F-4D97-AF65-F5344CB8AC3E}">
        <p14:creationId xmlns:p14="http://schemas.microsoft.com/office/powerpoint/2010/main" val="3003143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FC081-A57D-B639-9C9E-17C3CA3B6F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199CAE-CB2B-0032-F39E-898DA782E3F6}"/>
              </a:ext>
            </a:extLst>
          </p:cNvPr>
          <p:cNvSpPr txBox="1"/>
          <p:nvPr/>
        </p:nvSpPr>
        <p:spPr>
          <a:xfrm>
            <a:off x="462116" y="931126"/>
            <a:ext cx="5161937" cy="2862322"/>
          </a:xfrm>
          <a:prstGeom prst="rect">
            <a:avLst/>
          </a:prstGeom>
          <a:noFill/>
        </p:spPr>
        <p:txBody>
          <a:bodyPr wrap="square">
            <a:spAutoFit/>
          </a:bodyPr>
          <a:lstStyle/>
          <a:p>
            <a:pPr>
              <a:buNone/>
            </a:pPr>
            <a:r>
              <a:rPr lang="en-IN" b="1" dirty="0"/>
              <a:t>Automation</a:t>
            </a:r>
          </a:p>
          <a:p>
            <a:pPr>
              <a:buFont typeface="Arial" panose="020B0604020202020204" pitchFamily="34" charset="0"/>
              <a:buChar char="•"/>
            </a:pPr>
            <a:r>
              <a:rPr lang="en-IN" dirty="0"/>
              <a:t>Manual portal clicks → slow, error-prone</a:t>
            </a:r>
          </a:p>
          <a:p>
            <a:pPr>
              <a:buFont typeface="Arial" panose="020B0604020202020204" pitchFamily="34" charset="0"/>
              <a:buChar char="•"/>
            </a:pPr>
            <a:r>
              <a:rPr lang="en-IN" dirty="0"/>
              <a:t>DevOps requires </a:t>
            </a:r>
            <a:r>
              <a:rPr lang="en-IN" b="1" dirty="0"/>
              <a:t>repeatable deployments</a:t>
            </a:r>
            <a:r>
              <a:rPr lang="en-IN" dirty="0"/>
              <a:t> (CI/CD)</a:t>
            </a:r>
          </a:p>
          <a:p>
            <a:pPr>
              <a:buFont typeface="Arial" panose="020B0604020202020204" pitchFamily="34" charset="0"/>
              <a:buChar char="•"/>
            </a:pPr>
            <a:r>
              <a:rPr lang="en-IN" dirty="0"/>
              <a:t>Bicep files can be executed automatically using:</a:t>
            </a:r>
          </a:p>
          <a:p>
            <a:pPr marL="742950" lvl="1" indent="-285750">
              <a:buFont typeface="Arial" panose="020B0604020202020204" pitchFamily="34" charset="0"/>
              <a:buChar char="•"/>
            </a:pPr>
            <a:r>
              <a:rPr lang="en-IN" dirty="0"/>
              <a:t>Azure DevOps Pipelines</a:t>
            </a:r>
          </a:p>
          <a:p>
            <a:pPr marL="742950" lvl="1" indent="-285750">
              <a:buFont typeface="Arial" panose="020B0604020202020204" pitchFamily="34" charset="0"/>
              <a:buChar char="•"/>
            </a:pPr>
            <a:r>
              <a:rPr lang="en-IN" dirty="0"/>
              <a:t>GitHub Actions</a:t>
            </a:r>
          </a:p>
          <a:p>
            <a:pPr marL="742950" lvl="1" indent="-285750">
              <a:buFont typeface="Arial" panose="020B0604020202020204" pitchFamily="34" charset="0"/>
              <a:buChar char="•"/>
            </a:pPr>
            <a:r>
              <a:rPr lang="en-IN" dirty="0"/>
              <a:t>Scripts (Azure CLI / PowerShell)</a:t>
            </a:r>
          </a:p>
          <a:p>
            <a:pPr lvl="1"/>
            <a:endParaRPr lang="en-IN" dirty="0"/>
          </a:p>
        </p:txBody>
      </p:sp>
      <p:sp>
        <p:nvSpPr>
          <p:cNvPr id="5" name="TextBox 4">
            <a:extLst>
              <a:ext uri="{FF2B5EF4-FFF2-40B4-BE49-F238E27FC236}">
                <a16:creationId xmlns:a16="http://schemas.microsoft.com/office/drawing/2014/main" id="{25AE9B6E-D454-1B9D-B380-35FA4BA0CF66}"/>
              </a:ext>
            </a:extLst>
          </p:cNvPr>
          <p:cNvSpPr txBox="1"/>
          <p:nvPr/>
        </p:nvSpPr>
        <p:spPr>
          <a:xfrm>
            <a:off x="462116" y="3940932"/>
            <a:ext cx="5083278" cy="2308324"/>
          </a:xfrm>
          <a:prstGeom prst="rect">
            <a:avLst/>
          </a:prstGeom>
          <a:noFill/>
        </p:spPr>
        <p:txBody>
          <a:bodyPr wrap="square">
            <a:spAutoFit/>
          </a:bodyPr>
          <a:lstStyle/>
          <a:p>
            <a:pPr>
              <a:buNone/>
            </a:pPr>
            <a:r>
              <a:rPr lang="en-US" b="1" dirty="0"/>
              <a:t>Version Control</a:t>
            </a:r>
          </a:p>
          <a:p>
            <a:pPr>
              <a:buFont typeface="Arial" panose="020B0604020202020204" pitchFamily="34" charset="0"/>
              <a:buChar char="•"/>
            </a:pPr>
            <a:r>
              <a:rPr lang="en-US" dirty="0"/>
              <a:t>Portal changes are </a:t>
            </a:r>
            <a:r>
              <a:rPr lang="en-US" b="1" dirty="0"/>
              <a:t>not tracked</a:t>
            </a:r>
            <a:endParaRPr lang="en-US" dirty="0"/>
          </a:p>
          <a:p>
            <a:pPr>
              <a:buFont typeface="Arial" panose="020B0604020202020204" pitchFamily="34" charset="0"/>
              <a:buChar char="•"/>
            </a:pPr>
            <a:r>
              <a:rPr lang="en-US" dirty="0"/>
              <a:t>Bicep code is stored in </a:t>
            </a:r>
            <a:r>
              <a:rPr lang="en-US" b="1" dirty="0"/>
              <a:t>Git</a:t>
            </a:r>
            <a:endParaRPr lang="en-US" dirty="0"/>
          </a:p>
          <a:p>
            <a:pPr>
              <a:buFont typeface="Arial" panose="020B0604020202020204" pitchFamily="34" charset="0"/>
              <a:buChar char="•"/>
            </a:pPr>
            <a:r>
              <a:rPr lang="en-US" dirty="0"/>
              <a:t>You get:</a:t>
            </a:r>
          </a:p>
          <a:p>
            <a:pPr marL="742950" lvl="1" indent="-285750">
              <a:buFont typeface="Arial" panose="020B0604020202020204" pitchFamily="34" charset="0"/>
              <a:buChar char="•"/>
            </a:pPr>
            <a:r>
              <a:rPr lang="en-US" dirty="0"/>
              <a:t>Change history</a:t>
            </a:r>
          </a:p>
          <a:p>
            <a:pPr marL="742950" lvl="1" indent="-285750">
              <a:buFont typeface="Arial" panose="020B0604020202020204" pitchFamily="34" charset="0"/>
              <a:buChar char="•"/>
            </a:pPr>
            <a:r>
              <a:rPr lang="en-US" dirty="0"/>
              <a:t>Collaboration (PR reviews)</a:t>
            </a:r>
          </a:p>
          <a:p>
            <a:pPr marL="742950" lvl="1" indent="-285750">
              <a:buFont typeface="Arial" panose="020B0604020202020204" pitchFamily="34" charset="0"/>
              <a:buChar char="•"/>
            </a:pPr>
            <a:r>
              <a:rPr lang="en-US" dirty="0"/>
              <a:t>Rollbacks (if deployment breaks)</a:t>
            </a:r>
          </a:p>
          <a:p>
            <a:pPr marL="742950" lvl="1" indent="-285750">
              <a:buFont typeface="Arial" panose="020B0604020202020204" pitchFamily="34" charset="0"/>
              <a:buChar char="•"/>
            </a:pPr>
            <a:r>
              <a:rPr lang="en-US" dirty="0"/>
              <a:t>Approval workflow for production</a:t>
            </a:r>
          </a:p>
        </p:txBody>
      </p:sp>
      <p:sp>
        <p:nvSpPr>
          <p:cNvPr id="8" name="TextBox 7">
            <a:extLst>
              <a:ext uri="{FF2B5EF4-FFF2-40B4-BE49-F238E27FC236}">
                <a16:creationId xmlns:a16="http://schemas.microsoft.com/office/drawing/2014/main" id="{5A656A29-BF7A-6564-8912-71FD191C538C}"/>
              </a:ext>
            </a:extLst>
          </p:cNvPr>
          <p:cNvSpPr txBox="1"/>
          <p:nvPr/>
        </p:nvSpPr>
        <p:spPr>
          <a:xfrm>
            <a:off x="6258232" y="931126"/>
            <a:ext cx="5771535" cy="2031325"/>
          </a:xfrm>
          <a:prstGeom prst="rect">
            <a:avLst/>
          </a:prstGeom>
          <a:noFill/>
        </p:spPr>
        <p:txBody>
          <a:bodyPr wrap="square">
            <a:spAutoFit/>
          </a:bodyPr>
          <a:lstStyle/>
          <a:p>
            <a:pPr>
              <a:buNone/>
            </a:pPr>
            <a:r>
              <a:rPr lang="en-IN" b="1" dirty="0"/>
              <a:t>Reusability</a:t>
            </a:r>
          </a:p>
          <a:p>
            <a:pPr>
              <a:buFont typeface="Arial" panose="020B0604020202020204" pitchFamily="34" charset="0"/>
              <a:buChar char="•"/>
            </a:pPr>
            <a:r>
              <a:rPr lang="en-IN" dirty="0"/>
              <a:t>Same template can deploy:</a:t>
            </a:r>
          </a:p>
          <a:p>
            <a:pPr marL="742950" lvl="1" indent="-285750">
              <a:buFont typeface="Arial" panose="020B0604020202020204" pitchFamily="34" charset="0"/>
              <a:buChar char="•"/>
            </a:pPr>
            <a:r>
              <a:rPr lang="en-IN" dirty="0"/>
              <a:t>Dev, QA, UAT, Prod</a:t>
            </a:r>
          </a:p>
          <a:p>
            <a:pPr marL="742950" lvl="1" indent="-285750">
              <a:buFont typeface="Arial" panose="020B0604020202020204" pitchFamily="34" charset="0"/>
              <a:buChar char="•"/>
            </a:pPr>
            <a:r>
              <a:rPr lang="en-IN" dirty="0"/>
              <a:t>Multiple subscriptions / customers</a:t>
            </a:r>
          </a:p>
          <a:p>
            <a:pPr>
              <a:buFont typeface="Arial" panose="020B0604020202020204" pitchFamily="34" charset="0"/>
              <a:buChar char="•"/>
            </a:pPr>
            <a:r>
              <a:rPr lang="en-IN" dirty="0"/>
              <a:t>Use </a:t>
            </a:r>
            <a:r>
              <a:rPr lang="en-IN" b="1" dirty="0"/>
              <a:t>parameters</a:t>
            </a:r>
            <a:r>
              <a:rPr lang="en-IN" dirty="0"/>
              <a:t>, </a:t>
            </a:r>
            <a:r>
              <a:rPr lang="en-IN" b="1" dirty="0"/>
              <a:t>modules</a:t>
            </a:r>
            <a:r>
              <a:rPr lang="en-IN" dirty="0"/>
              <a:t>, </a:t>
            </a:r>
            <a:r>
              <a:rPr lang="en-IN" b="1" dirty="0"/>
              <a:t>loops</a:t>
            </a:r>
            <a:r>
              <a:rPr lang="en-IN" dirty="0"/>
              <a:t> to reuse logic</a:t>
            </a:r>
          </a:p>
          <a:p>
            <a:pPr>
              <a:buFont typeface="Arial" panose="020B0604020202020204" pitchFamily="34" charset="0"/>
              <a:buChar char="•"/>
            </a:pPr>
            <a:r>
              <a:rPr lang="en-IN" dirty="0"/>
              <a:t>Standard architecture patterns (e.g., AKS, Networking) can be packaged as modules</a:t>
            </a:r>
          </a:p>
        </p:txBody>
      </p:sp>
      <p:sp>
        <p:nvSpPr>
          <p:cNvPr id="10" name="TextBox 9">
            <a:extLst>
              <a:ext uri="{FF2B5EF4-FFF2-40B4-BE49-F238E27FC236}">
                <a16:creationId xmlns:a16="http://schemas.microsoft.com/office/drawing/2014/main" id="{D91B520B-9109-C67F-9F28-E0E672D8128F}"/>
              </a:ext>
            </a:extLst>
          </p:cNvPr>
          <p:cNvSpPr txBox="1"/>
          <p:nvPr/>
        </p:nvSpPr>
        <p:spPr>
          <a:xfrm>
            <a:off x="6096000" y="4007954"/>
            <a:ext cx="6096000" cy="2031325"/>
          </a:xfrm>
          <a:prstGeom prst="rect">
            <a:avLst/>
          </a:prstGeom>
          <a:noFill/>
        </p:spPr>
        <p:txBody>
          <a:bodyPr wrap="square">
            <a:spAutoFit/>
          </a:bodyPr>
          <a:lstStyle/>
          <a:p>
            <a:pPr>
              <a:buNone/>
            </a:pPr>
            <a:r>
              <a:rPr lang="en-IN" b="1" dirty="0"/>
              <a:t>Zero Human Mistakes</a:t>
            </a:r>
          </a:p>
          <a:p>
            <a:pPr>
              <a:buFont typeface="Arial" panose="020B0604020202020204" pitchFamily="34" charset="0"/>
              <a:buChar char="•"/>
            </a:pPr>
            <a:r>
              <a:rPr lang="en-IN" dirty="0"/>
              <a:t>Portal allows </a:t>
            </a:r>
            <a:r>
              <a:rPr lang="en-IN" dirty="0" err="1"/>
              <a:t>misclicks</a:t>
            </a:r>
            <a:r>
              <a:rPr lang="en-IN" dirty="0"/>
              <a:t> → wrong region, wrong SKU, security gaps</a:t>
            </a:r>
          </a:p>
          <a:p>
            <a:pPr>
              <a:buFont typeface="Arial" panose="020B0604020202020204" pitchFamily="34" charset="0"/>
              <a:buChar char="•"/>
            </a:pPr>
            <a:r>
              <a:rPr lang="en-IN" dirty="0"/>
              <a:t>Bicep enforces:</a:t>
            </a:r>
          </a:p>
          <a:p>
            <a:pPr marL="742950" lvl="1" indent="-285750">
              <a:buFont typeface="Arial" panose="020B0604020202020204" pitchFamily="34" charset="0"/>
              <a:buChar char="•"/>
            </a:pPr>
            <a:r>
              <a:rPr lang="en-IN" dirty="0"/>
              <a:t>Consistent naming conventions</a:t>
            </a:r>
          </a:p>
          <a:p>
            <a:pPr marL="742950" lvl="1" indent="-285750">
              <a:buFont typeface="Arial" panose="020B0604020202020204" pitchFamily="34" charset="0"/>
              <a:buChar char="•"/>
            </a:pPr>
            <a:r>
              <a:rPr lang="en-IN" dirty="0"/>
              <a:t>Locked configurations</a:t>
            </a:r>
          </a:p>
          <a:p>
            <a:pPr marL="742950" lvl="1" indent="-285750">
              <a:buFont typeface="Arial" panose="020B0604020202020204" pitchFamily="34" charset="0"/>
              <a:buChar char="•"/>
            </a:pPr>
            <a:r>
              <a:rPr lang="en-IN" dirty="0"/>
              <a:t>Validations before deploy (“what-if”)</a:t>
            </a:r>
          </a:p>
        </p:txBody>
      </p:sp>
      <p:sp>
        <p:nvSpPr>
          <p:cNvPr id="11" name="TextBox 10">
            <a:extLst>
              <a:ext uri="{FF2B5EF4-FFF2-40B4-BE49-F238E27FC236}">
                <a16:creationId xmlns:a16="http://schemas.microsoft.com/office/drawing/2014/main" id="{69A03176-04D4-4D7F-DDD4-8256CF6530A8}"/>
              </a:ext>
            </a:extLst>
          </p:cNvPr>
          <p:cNvSpPr txBox="1"/>
          <p:nvPr/>
        </p:nvSpPr>
        <p:spPr>
          <a:xfrm>
            <a:off x="-1336424" y="164887"/>
            <a:ext cx="6094476" cy="461665"/>
          </a:xfrm>
          <a:prstGeom prst="rect">
            <a:avLst/>
          </a:prstGeom>
          <a:noFill/>
        </p:spPr>
        <p:txBody>
          <a:bodyPr wrap="square">
            <a:spAutoFit/>
          </a:bodyPr>
          <a:lstStyle/>
          <a:p>
            <a:pPr algn="ctr"/>
            <a:r>
              <a:rPr lang="en-US" sz="2400" b="1" dirty="0">
                <a:highlight>
                  <a:srgbClr val="00FF00"/>
                </a:highlight>
              </a:rPr>
              <a:t>Bicep Provides</a:t>
            </a:r>
          </a:p>
        </p:txBody>
      </p:sp>
    </p:spTree>
    <p:extLst>
      <p:ext uri="{BB962C8B-B14F-4D97-AF65-F5344CB8AC3E}">
        <p14:creationId xmlns:p14="http://schemas.microsoft.com/office/powerpoint/2010/main" val="3928384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EC959-9137-6B3B-8C47-2BE648958A5C}"/>
            </a:ext>
          </a:extLst>
        </p:cNvPr>
        <p:cNvGrpSpPr/>
        <p:nvPr/>
      </p:nvGrpSpPr>
      <p:grpSpPr>
        <a:xfrm>
          <a:off x="0" y="0"/>
          <a:ext cx="0" cy="0"/>
          <a:chOff x="0" y="0"/>
          <a:chExt cx="0" cy="0"/>
        </a:xfrm>
      </p:grpSpPr>
      <p:graphicFrame>
        <p:nvGraphicFramePr>
          <p:cNvPr id="30" name="Table 29">
            <a:extLst>
              <a:ext uri="{FF2B5EF4-FFF2-40B4-BE49-F238E27FC236}">
                <a16:creationId xmlns:a16="http://schemas.microsoft.com/office/drawing/2014/main" id="{618B0BA2-1BE0-4DF8-9EF0-36EFF643C771}"/>
              </a:ext>
            </a:extLst>
          </p:cNvPr>
          <p:cNvGraphicFramePr>
            <a:graphicFrameLocks noGrp="1"/>
          </p:cNvGraphicFramePr>
          <p:nvPr>
            <p:extLst>
              <p:ext uri="{D42A27DB-BD31-4B8C-83A1-F6EECF244321}">
                <p14:modId xmlns:p14="http://schemas.microsoft.com/office/powerpoint/2010/main" val="767547167"/>
              </p:ext>
            </p:extLst>
          </p:nvPr>
        </p:nvGraphicFramePr>
        <p:xfrm>
          <a:off x="1610852" y="1372148"/>
          <a:ext cx="8655666" cy="4920496"/>
        </p:xfrm>
        <a:graphic>
          <a:graphicData uri="http://schemas.openxmlformats.org/drawingml/2006/table">
            <a:tbl>
              <a:tblPr firstRow="1">
                <a:tableStyleId>{7E9639D4-E3E2-4D34-9284-5A2195B3D0D7}</a:tableStyleId>
              </a:tblPr>
              <a:tblGrid>
                <a:gridCol w="2258000">
                  <a:extLst>
                    <a:ext uri="{9D8B030D-6E8A-4147-A177-3AD203B41FA5}">
                      <a16:colId xmlns:a16="http://schemas.microsoft.com/office/drawing/2014/main" val="1867380420"/>
                    </a:ext>
                  </a:extLst>
                </a:gridCol>
                <a:gridCol w="2775458">
                  <a:extLst>
                    <a:ext uri="{9D8B030D-6E8A-4147-A177-3AD203B41FA5}">
                      <a16:colId xmlns:a16="http://schemas.microsoft.com/office/drawing/2014/main" val="2024205941"/>
                    </a:ext>
                  </a:extLst>
                </a:gridCol>
                <a:gridCol w="3622208">
                  <a:extLst>
                    <a:ext uri="{9D8B030D-6E8A-4147-A177-3AD203B41FA5}">
                      <a16:colId xmlns:a16="http://schemas.microsoft.com/office/drawing/2014/main" val="2069800259"/>
                    </a:ext>
                  </a:extLst>
                </a:gridCol>
              </a:tblGrid>
              <a:tr h="615062">
                <a:tc>
                  <a:txBody>
                    <a:bodyPr/>
                    <a:lstStyle/>
                    <a:p>
                      <a:pPr algn="ctr" fontAlgn="ctr">
                        <a:buNone/>
                      </a:pPr>
                      <a:r>
                        <a:rPr lang="en-IN" sz="1800" b="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Feature</a:t>
                      </a:r>
                      <a:endParaRPr lang="en-IN" sz="18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GUI (Portal)</a:t>
                      </a:r>
                      <a:endParaRPr lang="en-IN" sz="18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Bicep</a:t>
                      </a:r>
                      <a:endParaRPr lang="en-IN" sz="1800" b="0"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6343186"/>
                  </a:ext>
                </a:extLst>
              </a:tr>
              <a:tr h="615062">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Speed</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Slow &amp; manual</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Fast &amp; automated</a:t>
                      </a:r>
                      <a:endParaRPr lang="en-IN" sz="1800" b="0" i="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9794799"/>
                  </a:ext>
                </a:extLst>
              </a:tr>
              <a:tr h="615062">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Repeatability</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Hard to repeat</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100% repeatable deployments</a:t>
                      </a:r>
                      <a:endParaRPr lang="en-IN" sz="1800" b="0" i="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2062295"/>
                  </a:ext>
                </a:extLst>
              </a:tr>
              <a:tr h="615062">
                <a:tc>
                  <a:txBody>
                    <a:bodyPr/>
                    <a:lstStyle/>
                    <a:p>
                      <a:pPr algn="ctr" fontAlgn="ctr">
                        <a:buNone/>
                      </a:pPr>
                      <a:r>
                        <a:rPr lang="en-IN" sz="18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Consistency</a:t>
                      </a:r>
                      <a:endParaRPr lang="en-IN"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errors likely</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Consistent + version-controlled</a:t>
                      </a:r>
                      <a:endParaRPr lang="en-IN" sz="1800" b="0" i="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6632232"/>
                  </a:ext>
                </a:extLst>
              </a:tr>
              <a:tr h="615062">
                <a:tc>
                  <a:txBody>
                    <a:bodyPr/>
                    <a:lstStyle/>
                    <a:p>
                      <a:pPr algn="ctr" fontAlgn="ctr">
                        <a:buNone/>
                      </a:pPr>
                      <a:r>
                        <a:rPr lang="en-IN" sz="18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Multi-environment</a:t>
                      </a:r>
                      <a:endParaRPr lang="en-IN"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Difficult (Dev/QA/Prod)</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Easy by using parameters</a:t>
                      </a:r>
                      <a:endParaRPr lang="en-IN" sz="1800" b="0" i="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1387672"/>
                  </a:ext>
                </a:extLst>
              </a:tr>
              <a:tr h="615062">
                <a:tc>
                  <a:txBody>
                    <a:bodyPr/>
                    <a:lstStyle/>
                    <a:p>
                      <a:pPr algn="ctr" fontAlgn="ctr">
                        <a:buNone/>
                      </a:pPr>
                      <a:r>
                        <a:rPr lang="en-IN" sz="18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Collaboration</a:t>
                      </a:r>
                      <a:endParaRPr lang="en-IN"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Not ideal</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Teams collaborate via Git</a:t>
                      </a:r>
                      <a:endParaRPr lang="en-IN" sz="1800" b="0" i="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0093538"/>
                  </a:ext>
                </a:extLst>
              </a:tr>
              <a:tr h="615062">
                <a:tc>
                  <a:txBody>
                    <a:bodyPr/>
                    <a:lstStyle/>
                    <a:p>
                      <a:pPr algn="ctr" fontAlgn="ctr">
                        <a:buNone/>
                      </a:pPr>
                      <a:r>
                        <a:rPr lang="en-IN" sz="18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Compliance</a:t>
                      </a:r>
                      <a:endParaRPr lang="en-IN"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Manual validation</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Policy-enforced &amp; auditable</a:t>
                      </a:r>
                      <a:endParaRPr lang="en-IN" sz="1800" b="0" i="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2888478"/>
                  </a:ext>
                </a:extLst>
              </a:tr>
              <a:tr h="615062">
                <a:tc>
                  <a:txBody>
                    <a:bodyPr/>
                    <a:lstStyle/>
                    <a:p>
                      <a:pPr algn="ctr" fontAlgn="ctr">
                        <a:buNone/>
                      </a:pPr>
                      <a:r>
                        <a:rPr lang="en-IN" sz="1800" b="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Automation</a:t>
                      </a:r>
                      <a:endParaRPr lang="en-IN"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Limited</a:t>
                      </a:r>
                      <a:endParaRPr lang="en-IN"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800" b="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Fully automatable CI/CD</a:t>
                      </a:r>
                      <a:endParaRPr lang="en-IN" sz="1800" b="0" i="0" u="none" strike="noStrike" dirty="0">
                        <a:solidFill>
                          <a:srgbClr val="000000"/>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5076212"/>
                  </a:ext>
                </a:extLst>
              </a:tr>
            </a:tbl>
          </a:graphicData>
        </a:graphic>
      </p:graphicFrame>
      <p:sp>
        <p:nvSpPr>
          <p:cNvPr id="31" name="TextBox 30">
            <a:extLst>
              <a:ext uri="{FF2B5EF4-FFF2-40B4-BE49-F238E27FC236}">
                <a16:creationId xmlns:a16="http://schemas.microsoft.com/office/drawing/2014/main" id="{D7466052-A13D-E782-FD9F-FC114F216CAD}"/>
              </a:ext>
            </a:extLst>
          </p:cNvPr>
          <p:cNvSpPr txBox="1"/>
          <p:nvPr/>
        </p:nvSpPr>
        <p:spPr>
          <a:xfrm>
            <a:off x="-1336424" y="164887"/>
            <a:ext cx="6094476" cy="461665"/>
          </a:xfrm>
          <a:prstGeom prst="rect">
            <a:avLst/>
          </a:prstGeom>
          <a:noFill/>
        </p:spPr>
        <p:txBody>
          <a:bodyPr wrap="square">
            <a:spAutoFit/>
          </a:bodyPr>
          <a:lstStyle/>
          <a:p>
            <a:pPr algn="ctr"/>
            <a:r>
              <a:rPr lang="en-US" sz="2400" b="1" dirty="0">
                <a:highlight>
                  <a:srgbClr val="00FF00"/>
                </a:highlight>
              </a:rPr>
              <a:t>Bicep Benefits</a:t>
            </a:r>
          </a:p>
        </p:txBody>
      </p:sp>
    </p:spTree>
    <p:extLst>
      <p:ext uri="{BB962C8B-B14F-4D97-AF65-F5344CB8AC3E}">
        <p14:creationId xmlns:p14="http://schemas.microsoft.com/office/powerpoint/2010/main" val="4066309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0477C-2B57-674B-87AE-047F2AED58A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4D4FEED-F5E0-C4A8-3E91-D1A76B2C3EF7}"/>
              </a:ext>
            </a:extLst>
          </p:cNvPr>
          <p:cNvGraphicFramePr>
            <a:graphicFrameLocks noGrp="1"/>
          </p:cNvGraphicFramePr>
          <p:nvPr>
            <p:extLst>
              <p:ext uri="{D42A27DB-BD31-4B8C-83A1-F6EECF244321}">
                <p14:modId xmlns:p14="http://schemas.microsoft.com/office/powerpoint/2010/main" val="2313523877"/>
              </p:ext>
            </p:extLst>
          </p:nvPr>
        </p:nvGraphicFramePr>
        <p:xfrm>
          <a:off x="1367297" y="1078380"/>
          <a:ext cx="9202381" cy="4240873"/>
        </p:xfrm>
        <a:graphic>
          <a:graphicData uri="http://schemas.openxmlformats.org/drawingml/2006/table">
            <a:tbl>
              <a:tblPr/>
              <a:tblGrid>
                <a:gridCol w="2030871">
                  <a:extLst>
                    <a:ext uri="{9D8B030D-6E8A-4147-A177-3AD203B41FA5}">
                      <a16:colId xmlns:a16="http://schemas.microsoft.com/office/drawing/2014/main" val="3097000328"/>
                    </a:ext>
                  </a:extLst>
                </a:gridCol>
                <a:gridCol w="7171510">
                  <a:extLst>
                    <a:ext uri="{9D8B030D-6E8A-4147-A177-3AD203B41FA5}">
                      <a16:colId xmlns:a16="http://schemas.microsoft.com/office/drawing/2014/main" val="4016977707"/>
                    </a:ext>
                  </a:extLst>
                </a:gridCol>
              </a:tblGrid>
              <a:tr h="525423">
                <a:tc>
                  <a:txBody>
                    <a:bodyPr/>
                    <a:lstStyle/>
                    <a:p>
                      <a:pPr algn="l" fontAlgn="ctr">
                        <a:buNone/>
                      </a:pPr>
                      <a:r>
                        <a:rPr lang="en-IN" sz="20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Block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ctr">
                        <a:buNone/>
                      </a:pPr>
                      <a:r>
                        <a:rPr lang="en-IN" sz="2000" b="1" i="0" u="none" strike="noStrike"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Purpose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4083055356"/>
                  </a:ext>
                </a:extLst>
              </a:tr>
              <a:tr h="525423">
                <a:tc>
                  <a:txBody>
                    <a:bodyPr/>
                    <a:lstStyle/>
                    <a:p>
                      <a:pPr algn="l" fontAlgn="ctr">
                        <a:buNone/>
                      </a:pPr>
                      <a:r>
                        <a:rPr lang="en-IN"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param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Input values for flexible deployments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0274201"/>
                  </a:ext>
                </a:extLst>
              </a:tr>
              <a:tr h="525423">
                <a:tc>
                  <a:txBody>
                    <a:bodyPr/>
                    <a:lstStyle/>
                    <a:p>
                      <a:pPr algn="l" fontAlgn="ctr">
                        <a:buNone/>
                      </a:pPr>
                      <a:r>
                        <a:rPr lang="en-IN" sz="2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var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Store intermediate values / reusable expressions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6120802"/>
                  </a:ext>
                </a:extLst>
              </a:tr>
              <a:tr h="525423">
                <a:tc>
                  <a:txBody>
                    <a:bodyPr/>
                    <a:lstStyle/>
                    <a:p>
                      <a:pPr algn="l" fontAlgn="ctr">
                        <a:buNone/>
                      </a:pPr>
                      <a:r>
                        <a:rPr lang="en-IN" sz="2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resource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Define Azure resources to be deployed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00353825"/>
                  </a:ext>
                </a:extLst>
              </a:tr>
              <a:tr h="525423">
                <a:tc>
                  <a:txBody>
                    <a:bodyPr/>
                    <a:lstStyle/>
                    <a:p>
                      <a:pPr algn="l" fontAlgn="ctr">
                        <a:buNone/>
                      </a:pPr>
                      <a:r>
                        <a:rPr lang="en-IN"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module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Reuse other Bicep templates (modular </a:t>
                      </a:r>
                      <a:r>
                        <a:rPr lang="en-US" sz="20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IaC</a:t>
                      </a:r>
                      <a:r>
                        <a:rPr lang="en-US"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3815711"/>
                  </a:ext>
                </a:extLst>
              </a:tr>
              <a:tr h="806879">
                <a:tc>
                  <a:txBody>
                    <a:bodyPr/>
                    <a:lstStyle/>
                    <a:p>
                      <a:pPr algn="l" fontAlgn="ctr">
                        <a:buNone/>
                      </a:pPr>
                      <a:r>
                        <a:rPr lang="en-IN" sz="2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output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Return values from deployment (like connection strings, resource IDs)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422059"/>
                  </a:ext>
                </a:extLst>
              </a:tr>
              <a:tr h="806879">
                <a:tc>
                  <a:txBody>
                    <a:bodyPr/>
                    <a:lstStyle/>
                    <a:p>
                      <a:pPr algn="l" fontAlgn="ctr">
                        <a:buNone/>
                      </a:pPr>
                      <a:r>
                        <a:rPr lang="en-IN" sz="20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targetScope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20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Define deployment scope (resource group, subscription, MG, tenant)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2825934"/>
                  </a:ext>
                </a:extLst>
              </a:tr>
            </a:tbl>
          </a:graphicData>
        </a:graphic>
      </p:graphicFrame>
      <p:sp>
        <p:nvSpPr>
          <p:cNvPr id="4" name="TextBox 3">
            <a:extLst>
              <a:ext uri="{FF2B5EF4-FFF2-40B4-BE49-F238E27FC236}">
                <a16:creationId xmlns:a16="http://schemas.microsoft.com/office/drawing/2014/main" id="{3C715B4B-98B7-59F3-D05D-A548B8B88F1D}"/>
              </a:ext>
            </a:extLst>
          </p:cNvPr>
          <p:cNvSpPr txBox="1"/>
          <p:nvPr/>
        </p:nvSpPr>
        <p:spPr>
          <a:xfrm>
            <a:off x="493443" y="164888"/>
            <a:ext cx="6094476" cy="461665"/>
          </a:xfrm>
          <a:prstGeom prst="rect">
            <a:avLst/>
          </a:prstGeom>
          <a:noFill/>
        </p:spPr>
        <p:txBody>
          <a:bodyPr wrap="square">
            <a:spAutoFit/>
          </a:bodyPr>
          <a:lstStyle/>
          <a:p>
            <a:r>
              <a:rPr lang="en-US" sz="2400" b="1" dirty="0">
                <a:highlight>
                  <a:srgbClr val="00FF00"/>
                </a:highlight>
              </a:rPr>
              <a:t>Bicep Template Composition</a:t>
            </a:r>
          </a:p>
        </p:txBody>
      </p:sp>
    </p:spTree>
    <p:extLst>
      <p:ext uri="{BB962C8B-B14F-4D97-AF65-F5344CB8AC3E}">
        <p14:creationId xmlns:p14="http://schemas.microsoft.com/office/powerpoint/2010/main" val="3570333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D2549-3EBE-F91B-00E2-BBE871747C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E01AF2D-DEBC-49B1-008E-ECB57A16001B}"/>
              </a:ext>
            </a:extLst>
          </p:cNvPr>
          <p:cNvSpPr txBox="1"/>
          <p:nvPr/>
        </p:nvSpPr>
        <p:spPr>
          <a:xfrm>
            <a:off x="629264" y="1059451"/>
            <a:ext cx="7049729" cy="5078313"/>
          </a:xfrm>
          <a:prstGeom prst="rect">
            <a:avLst/>
          </a:prstGeom>
          <a:noFill/>
        </p:spPr>
        <p:txBody>
          <a:bodyPr wrap="square">
            <a:spAutoFit/>
          </a:bodyPr>
          <a:lstStyle/>
          <a:p>
            <a:r>
              <a:rPr lang="en-IN" dirty="0" err="1"/>
              <a:t>targetScope</a:t>
            </a:r>
            <a:r>
              <a:rPr lang="en-IN" dirty="0"/>
              <a:t> = '</a:t>
            </a:r>
            <a:r>
              <a:rPr lang="en-IN" dirty="0" err="1"/>
              <a:t>resourceGroup</a:t>
            </a:r>
            <a:r>
              <a:rPr lang="en-IN" dirty="0"/>
              <a:t>'</a:t>
            </a:r>
          </a:p>
          <a:p>
            <a:endParaRPr lang="en-IN" dirty="0"/>
          </a:p>
          <a:p>
            <a:r>
              <a:rPr lang="en-IN" dirty="0"/>
              <a:t>@description('Name of the Storage Account')</a:t>
            </a:r>
          </a:p>
          <a:p>
            <a:r>
              <a:rPr lang="en-IN" dirty="0"/>
              <a:t>param </a:t>
            </a:r>
            <a:r>
              <a:rPr lang="en-IN" dirty="0" err="1"/>
              <a:t>storageAccountName</a:t>
            </a:r>
            <a:r>
              <a:rPr lang="en-IN" dirty="0"/>
              <a:t> string</a:t>
            </a:r>
          </a:p>
          <a:p>
            <a:endParaRPr lang="en-IN" dirty="0"/>
          </a:p>
          <a:p>
            <a:r>
              <a:rPr lang="en-IN" dirty="0"/>
              <a:t>var </a:t>
            </a:r>
            <a:r>
              <a:rPr lang="en-IN" dirty="0" err="1"/>
              <a:t>skuName</a:t>
            </a:r>
            <a:r>
              <a:rPr lang="en-IN" dirty="0"/>
              <a:t> = '</a:t>
            </a:r>
            <a:r>
              <a:rPr lang="en-IN" dirty="0" err="1"/>
              <a:t>Standard_LRS</a:t>
            </a:r>
            <a:r>
              <a:rPr lang="en-IN" dirty="0"/>
              <a:t>'</a:t>
            </a:r>
          </a:p>
          <a:p>
            <a:endParaRPr lang="en-IN" dirty="0"/>
          </a:p>
          <a:p>
            <a:r>
              <a:rPr lang="en-IN" dirty="0"/>
              <a:t>resource </a:t>
            </a:r>
            <a:r>
              <a:rPr lang="en-IN" dirty="0" err="1"/>
              <a:t>storageAccount</a:t>
            </a:r>
            <a:r>
              <a:rPr lang="en-IN" dirty="0"/>
              <a:t> '</a:t>
            </a:r>
            <a:r>
              <a:rPr lang="en-IN" dirty="0" err="1"/>
              <a:t>Microsoft.Storage</a:t>
            </a:r>
            <a:r>
              <a:rPr lang="en-IN" dirty="0"/>
              <a:t>/storageAccounts@2023-01-01' = {</a:t>
            </a:r>
          </a:p>
          <a:p>
            <a:r>
              <a:rPr lang="en-IN" dirty="0"/>
              <a:t>  name: </a:t>
            </a:r>
            <a:r>
              <a:rPr lang="en-IN" dirty="0" err="1"/>
              <a:t>storageAccountName</a:t>
            </a:r>
            <a:endParaRPr lang="en-IN" dirty="0"/>
          </a:p>
          <a:p>
            <a:r>
              <a:rPr lang="en-IN" dirty="0"/>
              <a:t>  location: </a:t>
            </a:r>
            <a:r>
              <a:rPr lang="en-IN" dirty="0" err="1"/>
              <a:t>resourceGroup</a:t>
            </a:r>
            <a:r>
              <a:rPr lang="en-IN" dirty="0"/>
              <a:t>().location</a:t>
            </a:r>
          </a:p>
          <a:p>
            <a:r>
              <a:rPr lang="en-IN" dirty="0"/>
              <a:t>  </a:t>
            </a:r>
            <a:r>
              <a:rPr lang="en-IN" dirty="0" err="1"/>
              <a:t>sku</a:t>
            </a:r>
            <a:r>
              <a:rPr lang="en-IN" dirty="0"/>
              <a:t>: {</a:t>
            </a:r>
          </a:p>
          <a:p>
            <a:r>
              <a:rPr lang="en-IN" dirty="0"/>
              <a:t>    name: </a:t>
            </a:r>
            <a:r>
              <a:rPr lang="en-IN" dirty="0" err="1"/>
              <a:t>skuName</a:t>
            </a:r>
            <a:endParaRPr lang="en-IN" dirty="0"/>
          </a:p>
          <a:p>
            <a:r>
              <a:rPr lang="en-IN" dirty="0"/>
              <a:t>  }</a:t>
            </a:r>
          </a:p>
          <a:p>
            <a:r>
              <a:rPr lang="en-IN" dirty="0"/>
              <a:t>  kind: 'StorageV2'</a:t>
            </a:r>
          </a:p>
          <a:p>
            <a:r>
              <a:rPr lang="en-IN" dirty="0"/>
              <a:t>}</a:t>
            </a:r>
          </a:p>
          <a:p>
            <a:endParaRPr lang="en-IN" dirty="0"/>
          </a:p>
          <a:p>
            <a:r>
              <a:rPr lang="en-IN" dirty="0"/>
              <a:t>output </a:t>
            </a:r>
            <a:r>
              <a:rPr lang="en-IN" dirty="0" err="1"/>
              <a:t>storageId</a:t>
            </a:r>
            <a:r>
              <a:rPr lang="en-IN" dirty="0"/>
              <a:t> string = storageAccount.id</a:t>
            </a:r>
          </a:p>
        </p:txBody>
      </p:sp>
      <p:sp>
        <p:nvSpPr>
          <p:cNvPr id="5" name="TextBox 4">
            <a:extLst>
              <a:ext uri="{FF2B5EF4-FFF2-40B4-BE49-F238E27FC236}">
                <a16:creationId xmlns:a16="http://schemas.microsoft.com/office/drawing/2014/main" id="{1BF94EC8-533A-4965-0773-0E69B3E06C88}"/>
              </a:ext>
            </a:extLst>
          </p:cNvPr>
          <p:cNvSpPr txBox="1"/>
          <p:nvPr/>
        </p:nvSpPr>
        <p:spPr>
          <a:xfrm>
            <a:off x="6646606" y="1066178"/>
            <a:ext cx="6096000" cy="369332"/>
          </a:xfrm>
          <a:prstGeom prst="rect">
            <a:avLst/>
          </a:prstGeom>
          <a:noFill/>
        </p:spPr>
        <p:txBody>
          <a:bodyPr wrap="square">
            <a:spAutoFit/>
          </a:bodyPr>
          <a:lstStyle/>
          <a:p>
            <a:r>
              <a:rPr lang="en-US" dirty="0">
                <a:highlight>
                  <a:srgbClr val="00FF00"/>
                </a:highlight>
              </a:rPr>
              <a:t>Defines where the template will be deployed.</a:t>
            </a:r>
            <a:endParaRPr lang="en-IN" dirty="0">
              <a:highlight>
                <a:srgbClr val="00FF00"/>
              </a:highlight>
            </a:endParaRPr>
          </a:p>
        </p:txBody>
      </p:sp>
      <p:sp>
        <p:nvSpPr>
          <p:cNvPr id="6" name="Arrow: Right 5">
            <a:extLst>
              <a:ext uri="{FF2B5EF4-FFF2-40B4-BE49-F238E27FC236}">
                <a16:creationId xmlns:a16="http://schemas.microsoft.com/office/drawing/2014/main" id="{0DFA90F9-0419-9F3D-7C5C-8ECCA6A7104C}"/>
              </a:ext>
            </a:extLst>
          </p:cNvPr>
          <p:cNvSpPr/>
          <p:nvPr/>
        </p:nvSpPr>
        <p:spPr>
          <a:xfrm rot="10800000">
            <a:off x="5869859" y="1059451"/>
            <a:ext cx="688258" cy="3760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Right 6">
            <a:extLst>
              <a:ext uri="{FF2B5EF4-FFF2-40B4-BE49-F238E27FC236}">
                <a16:creationId xmlns:a16="http://schemas.microsoft.com/office/drawing/2014/main" id="{CB107896-FCCE-EA55-F0A4-7B2685D1C2F7}"/>
              </a:ext>
            </a:extLst>
          </p:cNvPr>
          <p:cNvSpPr/>
          <p:nvPr/>
        </p:nvSpPr>
        <p:spPr>
          <a:xfrm rot="10800000">
            <a:off x="5869859" y="1725643"/>
            <a:ext cx="688258" cy="3760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632A77C-93E0-5EA2-5B0C-63AC00544FFE}"/>
              </a:ext>
            </a:extLst>
          </p:cNvPr>
          <p:cNvSpPr txBox="1"/>
          <p:nvPr/>
        </p:nvSpPr>
        <p:spPr>
          <a:xfrm>
            <a:off x="6646606" y="1590508"/>
            <a:ext cx="6371302" cy="646331"/>
          </a:xfrm>
          <a:prstGeom prst="rect">
            <a:avLst/>
          </a:prstGeom>
          <a:noFill/>
        </p:spPr>
        <p:txBody>
          <a:bodyPr wrap="square">
            <a:spAutoFit/>
          </a:bodyPr>
          <a:lstStyle/>
          <a:p>
            <a:r>
              <a:rPr lang="en-US" dirty="0">
                <a:highlight>
                  <a:srgbClr val="00FF00"/>
                </a:highlight>
              </a:rPr>
              <a:t>Used to </a:t>
            </a:r>
            <a:r>
              <a:rPr lang="en-US" b="1" dirty="0">
                <a:highlight>
                  <a:srgbClr val="00FF00"/>
                </a:highlight>
              </a:rPr>
              <a:t>inject values</a:t>
            </a:r>
            <a:r>
              <a:rPr lang="en-US" dirty="0">
                <a:highlight>
                  <a:srgbClr val="00FF00"/>
                </a:highlight>
              </a:rPr>
              <a:t> → good for Dev / Test / Prod flexibility</a:t>
            </a:r>
            <a:r>
              <a:rPr lang="en-US" dirty="0"/>
              <a:t>.</a:t>
            </a:r>
            <a:endParaRPr lang="en-IN" dirty="0"/>
          </a:p>
        </p:txBody>
      </p:sp>
      <p:sp>
        <p:nvSpPr>
          <p:cNvPr id="10" name="Arrow: Right 9">
            <a:extLst>
              <a:ext uri="{FF2B5EF4-FFF2-40B4-BE49-F238E27FC236}">
                <a16:creationId xmlns:a16="http://schemas.microsoft.com/office/drawing/2014/main" id="{80BB5E2E-A717-45BA-8753-700057CE1E21}"/>
              </a:ext>
            </a:extLst>
          </p:cNvPr>
          <p:cNvSpPr/>
          <p:nvPr/>
        </p:nvSpPr>
        <p:spPr>
          <a:xfrm rot="10800000">
            <a:off x="5869859" y="2428763"/>
            <a:ext cx="688258" cy="3760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A6BAAD6C-A751-B818-2BC7-A87EEF67499A}"/>
              </a:ext>
            </a:extLst>
          </p:cNvPr>
          <p:cNvSpPr txBox="1"/>
          <p:nvPr/>
        </p:nvSpPr>
        <p:spPr>
          <a:xfrm>
            <a:off x="6646606" y="2391837"/>
            <a:ext cx="6371302" cy="369332"/>
          </a:xfrm>
          <a:prstGeom prst="rect">
            <a:avLst/>
          </a:prstGeom>
          <a:noFill/>
        </p:spPr>
        <p:txBody>
          <a:bodyPr wrap="square">
            <a:spAutoFit/>
          </a:bodyPr>
          <a:lstStyle/>
          <a:p>
            <a:r>
              <a:rPr lang="en-US" dirty="0">
                <a:highlight>
                  <a:srgbClr val="00FF00"/>
                </a:highlight>
              </a:rPr>
              <a:t>Variables - Reusable expressions </a:t>
            </a:r>
            <a:endParaRPr lang="en-IN" dirty="0"/>
          </a:p>
        </p:txBody>
      </p:sp>
      <p:sp>
        <p:nvSpPr>
          <p:cNvPr id="13" name="TextBox 12">
            <a:extLst>
              <a:ext uri="{FF2B5EF4-FFF2-40B4-BE49-F238E27FC236}">
                <a16:creationId xmlns:a16="http://schemas.microsoft.com/office/drawing/2014/main" id="{6EEC3CCA-D4CC-CDCC-D7D5-7C62736DC982}"/>
              </a:ext>
            </a:extLst>
          </p:cNvPr>
          <p:cNvSpPr txBox="1"/>
          <p:nvPr/>
        </p:nvSpPr>
        <p:spPr>
          <a:xfrm>
            <a:off x="6646606" y="3984212"/>
            <a:ext cx="6508954" cy="369332"/>
          </a:xfrm>
          <a:prstGeom prst="rect">
            <a:avLst/>
          </a:prstGeom>
          <a:noFill/>
        </p:spPr>
        <p:txBody>
          <a:bodyPr wrap="square">
            <a:spAutoFit/>
          </a:bodyPr>
          <a:lstStyle/>
          <a:p>
            <a:r>
              <a:rPr lang="en-US" dirty="0">
                <a:highlight>
                  <a:srgbClr val="00FF00"/>
                </a:highlight>
              </a:rPr>
              <a:t>Defines the exact Azure resource to create.</a:t>
            </a:r>
            <a:endParaRPr lang="en-IN" dirty="0">
              <a:highlight>
                <a:srgbClr val="00FF00"/>
              </a:highlight>
            </a:endParaRPr>
          </a:p>
        </p:txBody>
      </p:sp>
      <p:sp>
        <p:nvSpPr>
          <p:cNvPr id="14" name="Arrow: Right 13">
            <a:extLst>
              <a:ext uri="{FF2B5EF4-FFF2-40B4-BE49-F238E27FC236}">
                <a16:creationId xmlns:a16="http://schemas.microsoft.com/office/drawing/2014/main" id="{091BFE4C-8DBD-716C-3B17-E3C4F4F34A29}"/>
              </a:ext>
            </a:extLst>
          </p:cNvPr>
          <p:cNvSpPr/>
          <p:nvPr/>
        </p:nvSpPr>
        <p:spPr>
          <a:xfrm rot="10800000">
            <a:off x="5869859" y="3970281"/>
            <a:ext cx="688258" cy="3760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EF7FF48F-2622-40F5-1254-E45071EEAD1C}"/>
              </a:ext>
            </a:extLst>
          </p:cNvPr>
          <p:cNvSpPr txBox="1"/>
          <p:nvPr/>
        </p:nvSpPr>
        <p:spPr>
          <a:xfrm>
            <a:off x="6646606" y="5391921"/>
            <a:ext cx="6577780" cy="369332"/>
          </a:xfrm>
          <a:prstGeom prst="rect">
            <a:avLst/>
          </a:prstGeom>
          <a:noFill/>
        </p:spPr>
        <p:txBody>
          <a:bodyPr wrap="square">
            <a:spAutoFit/>
          </a:bodyPr>
          <a:lstStyle/>
          <a:p>
            <a:r>
              <a:rPr lang="en-US" dirty="0">
                <a:highlight>
                  <a:srgbClr val="00FF00"/>
                </a:highlight>
              </a:rPr>
              <a:t>Returns useful values from the deployment.</a:t>
            </a:r>
            <a:endParaRPr lang="en-IN" dirty="0">
              <a:highlight>
                <a:srgbClr val="00FF00"/>
              </a:highlight>
            </a:endParaRPr>
          </a:p>
        </p:txBody>
      </p:sp>
      <p:sp>
        <p:nvSpPr>
          <p:cNvPr id="17" name="Arrow: Right 16">
            <a:extLst>
              <a:ext uri="{FF2B5EF4-FFF2-40B4-BE49-F238E27FC236}">
                <a16:creationId xmlns:a16="http://schemas.microsoft.com/office/drawing/2014/main" id="{EBE8B55B-BC57-5CF0-E93B-EB9ADC5B488F}"/>
              </a:ext>
            </a:extLst>
          </p:cNvPr>
          <p:cNvSpPr/>
          <p:nvPr/>
        </p:nvSpPr>
        <p:spPr>
          <a:xfrm rot="10800000">
            <a:off x="5869859" y="5383048"/>
            <a:ext cx="688258" cy="3760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66791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E1291-28A8-0DB1-DC68-A9361DC90052}"/>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EC495C85-50A3-1B62-F9CD-CE3D160B4798}"/>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E6003757-DF1D-D580-33CD-C41E2803FCC1}"/>
              </a:ext>
            </a:extLst>
          </p:cNvPr>
          <p:cNvSpPr>
            <a:spLocks noGrp="1"/>
          </p:cNvSpPr>
          <p:nvPr>
            <p:ph type="ctrTitle"/>
          </p:nvPr>
        </p:nvSpPr>
        <p:spPr>
          <a:xfrm>
            <a:off x="477981" y="1122363"/>
            <a:ext cx="4023360" cy="3204134"/>
          </a:xfrm>
        </p:spPr>
        <p:txBody>
          <a:bodyPr anchor="b">
            <a:normAutofit/>
          </a:bodyPr>
          <a:lstStyle/>
          <a:p>
            <a:r>
              <a:rPr lang="en-US" sz="4800" dirty="0"/>
              <a:t>YAML </a:t>
            </a:r>
            <a:br>
              <a:rPr lang="en-US" sz="4800" dirty="0"/>
            </a:br>
            <a:r>
              <a:rPr lang="en-US" sz="4800" dirty="0"/>
              <a:t>Scripts</a:t>
            </a:r>
          </a:p>
        </p:txBody>
      </p:sp>
    </p:spTree>
    <p:extLst>
      <p:ext uri="{BB962C8B-B14F-4D97-AF65-F5344CB8AC3E}">
        <p14:creationId xmlns:p14="http://schemas.microsoft.com/office/powerpoint/2010/main" val="1624907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C804A-8CB8-18E8-3F69-8B3FCB2808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925734-C854-63B4-3631-4A39F841D16E}"/>
              </a:ext>
            </a:extLst>
          </p:cNvPr>
          <p:cNvSpPr txBox="1"/>
          <p:nvPr/>
        </p:nvSpPr>
        <p:spPr>
          <a:xfrm>
            <a:off x="3048762" y="620006"/>
            <a:ext cx="6094476" cy="461665"/>
          </a:xfrm>
          <a:prstGeom prst="rect">
            <a:avLst/>
          </a:prstGeom>
          <a:noFill/>
        </p:spPr>
        <p:txBody>
          <a:bodyPr wrap="square">
            <a:spAutoFit/>
          </a:bodyPr>
          <a:lstStyle/>
          <a:p>
            <a:pPr algn="ctr"/>
            <a:r>
              <a:rPr lang="en-US" sz="2400" b="1" dirty="0"/>
              <a:t>YAML</a:t>
            </a:r>
          </a:p>
        </p:txBody>
      </p:sp>
      <p:sp>
        <p:nvSpPr>
          <p:cNvPr id="4" name="TextBox 3">
            <a:extLst>
              <a:ext uri="{FF2B5EF4-FFF2-40B4-BE49-F238E27FC236}">
                <a16:creationId xmlns:a16="http://schemas.microsoft.com/office/drawing/2014/main" id="{CFEDB395-E6B3-1E47-D98A-EA52B56B8507}"/>
              </a:ext>
            </a:extLst>
          </p:cNvPr>
          <p:cNvSpPr txBox="1"/>
          <p:nvPr/>
        </p:nvSpPr>
        <p:spPr>
          <a:xfrm>
            <a:off x="395478" y="1455719"/>
            <a:ext cx="11217402" cy="4524315"/>
          </a:xfrm>
          <a:prstGeom prst="rect">
            <a:avLst/>
          </a:prstGeom>
          <a:noFill/>
        </p:spPr>
        <p:txBody>
          <a:bodyPr wrap="square">
            <a:spAutoFit/>
          </a:bodyPr>
          <a:lstStyle/>
          <a:p>
            <a:r>
              <a:rPr lang="en-US" b="1" dirty="0"/>
              <a:t>Data Serialization:</a:t>
            </a:r>
          </a:p>
          <a:p>
            <a:r>
              <a:rPr lang="en-US" dirty="0"/>
              <a:t>Data serialization is the process of converting data objects present in complex data structures into a byte stream for storage, transfer, and distribution purposes on a physical device.</a:t>
            </a:r>
          </a:p>
          <a:p>
            <a:endParaRPr lang="en-US" dirty="0"/>
          </a:p>
          <a:p>
            <a:r>
              <a:rPr lang="en-US" b="1" dirty="0"/>
              <a:t>Example</a:t>
            </a:r>
            <a:r>
              <a:rPr lang="en-US" dirty="0"/>
              <a:t>: Serialization is when reading data from databases and transferring it across the web.</a:t>
            </a:r>
          </a:p>
          <a:p>
            <a:endParaRPr lang="en-US" dirty="0"/>
          </a:p>
          <a:p>
            <a:r>
              <a:rPr lang="en-US" dirty="0"/>
              <a:t>Some commonly used serialization formats are JSON, YAML, XML.</a:t>
            </a:r>
          </a:p>
          <a:p>
            <a:endParaRPr lang="en-US" dirty="0"/>
          </a:p>
          <a:p>
            <a:r>
              <a:rPr lang="en-US" b="1" dirty="0"/>
              <a:t>YAML</a:t>
            </a:r>
            <a:r>
              <a:rPr lang="en-US" dirty="0"/>
              <a:t>:</a:t>
            </a:r>
          </a:p>
          <a:p>
            <a:endParaRPr lang="en-US" dirty="0"/>
          </a:p>
          <a:p>
            <a:pPr marL="285750" indent="-285750">
              <a:buFont typeface="Arial" panose="020B0604020202020204" pitchFamily="34" charset="0"/>
              <a:buChar char="•"/>
            </a:pPr>
            <a:r>
              <a:rPr lang="en-US" dirty="0"/>
              <a:t>YAML is a data serialization format that stands for YAML </a:t>
            </a:r>
            <a:r>
              <a:rPr lang="en-US" dirty="0" err="1"/>
              <a:t>Ain't</a:t>
            </a:r>
            <a:r>
              <a:rPr lang="en-US" dirty="0"/>
              <a:t> Markup Language.</a:t>
            </a:r>
          </a:p>
          <a:p>
            <a:pPr marL="285750" indent="-285750">
              <a:buFont typeface="Arial" panose="020B0604020202020204" pitchFamily="34" charset="0"/>
              <a:buChar char="•"/>
            </a:pPr>
            <a:r>
              <a:rPr lang="en-US" dirty="0"/>
              <a:t>YAML is written in simple English and is easier for humans to read and write.</a:t>
            </a:r>
          </a:p>
          <a:p>
            <a:pPr marL="285750" indent="-285750">
              <a:buFont typeface="Arial" panose="020B0604020202020204" pitchFamily="34" charset="0"/>
              <a:buChar char="•"/>
            </a:pPr>
            <a:r>
              <a:rPr lang="en-US" dirty="0"/>
              <a:t>YAML supports various data types like cases, arrays, dictionaries, lists, and scalars.</a:t>
            </a:r>
          </a:p>
          <a:p>
            <a:pPr marL="285750" indent="-285750">
              <a:buFont typeface="Arial" panose="020B0604020202020204" pitchFamily="34" charset="0"/>
              <a:buChar char="•"/>
            </a:pPr>
            <a:r>
              <a:rPr lang="en-US" dirty="0"/>
              <a:t>It has good support for the most popular languages like JavaScript, Python, Ruby, Java, etc.</a:t>
            </a:r>
          </a:p>
          <a:p>
            <a:pPr marL="285750" indent="-285750">
              <a:buFont typeface="Arial" panose="020B0604020202020204" pitchFamily="34" charset="0"/>
              <a:buChar char="•"/>
            </a:pPr>
            <a:r>
              <a:rPr lang="en-US" dirty="0"/>
              <a:t>YAML only supports spaces, and it is case sensitive as well as space sensitive.</a:t>
            </a:r>
          </a:p>
          <a:p>
            <a:pPr marL="285750" indent="-285750">
              <a:buFont typeface="Arial" panose="020B0604020202020204" pitchFamily="34" charset="0"/>
              <a:buChar char="•"/>
            </a:pPr>
            <a:r>
              <a:rPr lang="en-US" dirty="0"/>
              <a:t>Tabs are not accepted universally. A YAML file has a .</a:t>
            </a:r>
            <a:r>
              <a:rPr lang="en-US" dirty="0" err="1"/>
              <a:t>yaml</a:t>
            </a:r>
            <a:r>
              <a:rPr lang="en-US" dirty="0"/>
              <a:t> extension.</a:t>
            </a:r>
          </a:p>
        </p:txBody>
      </p:sp>
    </p:spTree>
    <p:extLst>
      <p:ext uri="{BB962C8B-B14F-4D97-AF65-F5344CB8AC3E}">
        <p14:creationId xmlns:p14="http://schemas.microsoft.com/office/powerpoint/2010/main" val="2280038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1F1B2-9C63-0060-39D5-2F3F0B7EB6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641B16-5703-11B8-AD5D-989154E4F4EA}"/>
              </a:ext>
            </a:extLst>
          </p:cNvPr>
          <p:cNvSpPr txBox="1"/>
          <p:nvPr/>
        </p:nvSpPr>
        <p:spPr>
          <a:xfrm>
            <a:off x="3048762" y="620006"/>
            <a:ext cx="6094476" cy="461665"/>
          </a:xfrm>
          <a:prstGeom prst="rect">
            <a:avLst/>
          </a:prstGeom>
          <a:noFill/>
        </p:spPr>
        <p:txBody>
          <a:bodyPr wrap="square">
            <a:spAutoFit/>
          </a:bodyPr>
          <a:lstStyle/>
          <a:p>
            <a:pPr algn="ctr"/>
            <a:r>
              <a:rPr lang="en-US" sz="2400" b="1" dirty="0"/>
              <a:t>YAML</a:t>
            </a:r>
          </a:p>
        </p:txBody>
      </p:sp>
      <p:sp>
        <p:nvSpPr>
          <p:cNvPr id="5" name="TextBox 4">
            <a:extLst>
              <a:ext uri="{FF2B5EF4-FFF2-40B4-BE49-F238E27FC236}">
                <a16:creationId xmlns:a16="http://schemas.microsoft.com/office/drawing/2014/main" id="{D6B793EF-D496-0338-9005-A5ADEA32835B}"/>
              </a:ext>
            </a:extLst>
          </p:cNvPr>
          <p:cNvSpPr txBox="1"/>
          <p:nvPr/>
        </p:nvSpPr>
        <p:spPr>
          <a:xfrm>
            <a:off x="688086" y="1539531"/>
            <a:ext cx="10559034" cy="923330"/>
          </a:xfrm>
          <a:prstGeom prst="rect">
            <a:avLst/>
          </a:prstGeom>
          <a:noFill/>
        </p:spPr>
        <p:txBody>
          <a:bodyPr wrap="square">
            <a:spAutoFit/>
          </a:bodyPr>
          <a:lstStyle/>
          <a:p>
            <a:pPr>
              <a:buNone/>
            </a:pPr>
            <a:r>
              <a:rPr lang="en-US" dirty="0"/>
              <a:t>Mapping:</a:t>
            </a:r>
          </a:p>
          <a:p>
            <a:pPr>
              <a:buNone/>
            </a:pPr>
            <a:endParaRPr lang="en-US" dirty="0"/>
          </a:p>
          <a:p>
            <a:pPr>
              <a:buFont typeface="Arial" panose="020B0604020202020204" pitchFamily="34" charset="0"/>
              <a:buChar char="•"/>
            </a:pPr>
            <a:r>
              <a:rPr lang="en-US" dirty="0"/>
              <a:t>The mapping syntax is </a:t>
            </a:r>
            <a:r>
              <a:rPr lang="en-US" b="1" dirty="0"/>
              <a:t>key: value</a:t>
            </a:r>
            <a:r>
              <a:rPr lang="en-US" dirty="0"/>
              <a:t>. (Note the space, it's very crucial in YAML, unlike JSON or XML)</a:t>
            </a:r>
          </a:p>
        </p:txBody>
      </p:sp>
      <p:sp>
        <p:nvSpPr>
          <p:cNvPr id="6" name="Rectangle: Rounded Corners 5">
            <a:extLst>
              <a:ext uri="{FF2B5EF4-FFF2-40B4-BE49-F238E27FC236}">
                <a16:creationId xmlns:a16="http://schemas.microsoft.com/office/drawing/2014/main" id="{6D95E364-1EE1-3274-AB7E-6EE7C94659DC}"/>
              </a:ext>
            </a:extLst>
          </p:cNvPr>
          <p:cNvSpPr/>
          <p:nvPr/>
        </p:nvSpPr>
        <p:spPr>
          <a:xfrm>
            <a:off x="3896868" y="3429000"/>
            <a:ext cx="4398264" cy="2438109"/>
          </a:xfrm>
          <a:prstGeom prst="roundRect">
            <a:avLst/>
          </a:prstGeom>
          <a:solidFill>
            <a:schemeClr val="accent1">
              <a:lumMod val="60000"/>
              <a:lumOff val="4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name: Bharath Reddy</a:t>
            </a:r>
          </a:p>
          <a:p>
            <a:r>
              <a:rPr lang="en-US" b="1" dirty="0">
                <a:solidFill>
                  <a:schemeClr val="tx1"/>
                </a:solidFill>
              </a:rPr>
              <a:t>age: 35</a:t>
            </a:r>
          </a:p>
          <a:p>
            <a:r>
              <a:rPr lang="en-US" b="1" dirty="0">
                <a:solidFill>
                  <a:schemeClr val="tx1"/>
                </a:solidFill>
              </a:rPr>
              <a:t>location: Hyderabad</a:t>
            </a:r>
          </a:p>
        </p:txBody>
      </p:sp>
    </p:spTree>
    <p:extLst>
      <p:ext uri="{BB962C8B-B14F-4D97-AF65-F5344CB8AC3E}">
        <p14:creationId xmlns:p14="http://schemas.microsoft.com/office/powerpoint/2010/main" val="15901182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5BB62-A0E2-2A48-1452-D7C32C4BEC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4347C7-637F-9268-8472-86C8F8BAC5F9}"/>
              </a:ext>
            </a:extLst>
          </p:cNvPr>
          <p:cNvSpPr txBox="1"/>
          <p:nvPr/>
        </p:nvSpPr>
        <p:spPr>
          <a:xfrm>
            <a:off x="3048762" y="620006"/>
            <a:ext cx="6094476" cy="461665"/>
          </a:xfrm>
          <a:prstGeom prst="rect">
            <a:avLst/>
          </a:prstGeom>
          <a:noFill/>
        </p:spPr>
        <p:txBody>
          <a:bodyPr wrap="square">
            <a:spAutoFit/>
          </a:bodyPr>
          <a:lstStyle/>
          <a:p>
            <a:pPr algn="ctr"/>
            <a:r>
              <a:rPr lang="en-US" sz="2400" b="1" dirty="0"/>
              <a:t>YAML</a:t>
            </a:r>
          </a:p>
        </p:txBody>
      </p:sp>
      <p:sp>
        <p:nvSpPr>
          <p:cNvPr id="5" name="TextBox 4">
            <a:extLst>
              <a:ext uri="{FF2B5EF4-FFF2-40B4-BE49-F238E27FC236}">
                <a16:creationId xmlns:a16="http://schemas.microsoft.com/office/drawing/2014/main" id="{3A9F1CC8-02FA-AB83-3063-20305EE2590C}"/>
              </a:ext>
            </a:extLst>
          </p:cNvPr>
          <p:cNvSpPr txBox="1"/>
          <p:nvPr/>
        </p:nvSpPr>
        <p:spPr>
          <a:xfrm>
            <a:off x="861822" y="1239119"/>
            <a:ext cx="10513314" cy="646331"/>
          </a:xfrm>
          <a:prstGeom prst="rect">
            <a:avLst/>
          </a:prstGeom>
          <a:noFill/>
        </p:spPr>
        <p:txBody>
          <a:bodyPr wrap="square">
            <a:spAutoFit/>
          </a:bodyPr>
          <a:lstStyle/>
          <a:p>
            <a:r>
              <a:rPr lang="en-US" dirty="0"/>
              <a:t>YAML also supports data types like characters, strings, integers, floating values, and collections like arrays, lists that are constructed from basic data types</a:t>
            </a:r>
          </a:p>
        </p:txBody>
      </p:sp>
      <p:sp>
        <p:nvSpPr>
          <p:cNvPr id="6" name="Rectangle: Rounded Corners 5">
            <a:extLst>
              <a:ext uri="{FF2B5EF4-FFF2-40B4-BE49-F238E27FC236}">
                <a16:creationId xmlns:a16="http://schemas.microsoft.com/office/drawing/2014/main" id="{A781EF05-CB31-3EA9-54B4-A702B7C0601A}"/>
              </a:ext>
            </a:extLst>
          </p:cNvPr>
          <p:cNvSpPr/>
          <p:nvPr/>
        </p:nvSpPr>
        <p:spPr>
          <a:xfrm>
            <a:off x="1611249" y="3026664"/>
            <a:ext cx="9014460" cy="2798064"/>
          </a:xfrm>
          <a:prstGeom prst="roundRect">
            <a:avLst/>
          </a:prstGeom>
          <a:solidFill>
            <a:schemeClr val="accent1">
              <a:lumMod val="60000"/>
              <a:lumOff val="4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NAME: “Bharath Reddy"			------&gt; String </a:t>
            </a:r>
          </a:p>
          <a:p>
            <a:r>
              <a:rPr lang="en-US" b="1" dirty="0">
                <a:solidFill>
                  <a:schemeClr val="tx1"/>
                </a:solidFill>
              </a:rPr>
              <a:t>MALE: FALSE 				------&gt; Boolean </a:t>
            </a:r>
          </a:p>
          <a:p>
            <a:r>
              <a:rPr lang="en-US" b="1" dirty="0">
                <a:solidFill>
                  <a:schemeClr val="tx1"/>
                </a:solidFill>
              </a:rPr>
              <a:t>Amount: 120.30				------&gt; Float </a:t>
            </a:r>
          </a:p>
          <a:p>
            <a:r>
              <a:rPr lang="en-US" b="1" dirty="0">
                <a:solidFill>
                  <a:schemeClr val="tx1"/>
                </a:solidFill>
              </a:rPr>
              <a:t>Concern: NULL 				------&gt; Null </a:t>
            </a:r>
          </a:p>
          <a:p>
            <a:r>
              <a:rPr lang="en-US" b="1" dirty="0">
                <a:solidFill>
                  <a:schemeClr val="tx1"/>
                </a:solidFill>
              </a:rPr>
              <a:t>AGE: 16 				------&gt; Integer</a:t>
            </a:r>
          </a:p>
        </p:txBody>
      </p:sp>
    </p:spTree>
    <p:extLst>
      <p:ext uri="{BB962C8B-B14F-4D97-AF65-F5344CB8AC3E}">
        <p14:creationId xmlns:p14="http://schemas.microsoft.com/office/powerpoint/2010/main" val="124619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F4CD2-9485-B719-9428-049B1295FA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AA3ED7-6E50-3F55-A5B9-FCAA90FAC089}"/>
              </a:ext>
            </a:extLst>
          </p:cNvPr>
          <p:cNvSpPr txBox="1"/>
          <p:nvPr/>
        </p:nvSpPr>
        <p:spPr>
          <a:xfrm>
            <a:off x="3048762" y="620006"/>
            <a:ext cx="6094476" cy="461665"/>
          </a:xfrm>
          <a:prstGeom prst="rect">
            <a:avLst/>
          </a:prstGeom>
          <a:noFill/>
        </p:spPr>
        <p:txBody>
          <a:bodyPr wrap="square">
            <a:spAutoFit/>
          </a:bodyPr>
          <a:lstStyle/>
          <a:p>
            <a:pPr algn="ctr"/>
            <a:r>
              <a:rPr lang="en-US" sz="2400" b="1" dirty="0"/>
              <a:t>YAML</a:t>
            </a:r>
          </a:p>
        </p:txBody>
      </p:sp>
      <p:sp>
        <p:nvSpPr>
          <p:cNvPr id="2" name="Rectangle: Rounded Corners 1">
            <a:extLst>
              <a:ext uri="{FF2B5EF4-FFF2-40B4-BE49-F238E27FC236}">
                <a16:creationId xmlns:a16="http://schemas.microsoft.com/office/drawing/2014/main" id="{662E23B2-BCF0-0DEF-78E0-DCA133233CBF}"/>
              </a:ext>
            </a:extLst>
          </p:cNvPr>
          <p:cNvSpPr/>
          <p:nvPr/>
        </p:nvSpPr>
        <p:spPr>
          <a:xfrm>
            <a:off x="4195192" y="2043130"/>
            <a:ext cx="3028188" cy="4002024"/>
          </a:xfrm>
          <a:prstGeom prst="roundRect">
            <a:avLst/>
          </a:prstGeom>
          <a:solidFill>
            <a:schemeClr val="accent1">
              <a:lumMod val="60000"/>
              <a:lumOff val="4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 </a:t>
            </a:r>
          </a:p>
          <a:p>
            <a:r>
              <a:rPr lang="en-US" b="1" dirty="0">
                <a:solidFill>
                  <a:schemeClr val="tx1"/>
                </a:solidFill>
              </a:rPr>
              <a:t>student: "john" </a:t>
            </a:r>
          </a:p>
          <a:p>
            <a:r>
              <a:rPr lang="en-US" b="1" dirty="0">
                <a:solidFill>
                  <a:schemeClr val="tx1"/>
                </a:solidFill>
              </a:rPr>
              <a:t>hobbies: </a:t>
            </a:r>
          </a:p>
          <a:p>
            <a:pPr marL="285750" indent="-285750">
              <a:buFontTx/>
              <a:buChar char="-"/>
            </a:pPr>
            <a:r>
              <a:rPr lang="en-US" b="1" dirty="0">
                <a:solidFill>
                  <a:schemeClr val="tx1"/>
                </a:solidFill>
              </a:rPr>
              <a:t>music </a:t>
            </a:r>
          </a:p>
          <a:p>
            <a:pPr marL="285750" indent="-285750">
              <a:buFontTx/>
              <a:buChar char="-"/>
            </a:pPr>
            <a:r>
              <a:rPr lang="en-US" b="1" dirty="0">
                <a:solidFill>
                  <a:schemeClr val="tx1"/>
                </a:solidFill>
              </a:rPr>
              <a:t>Reading</a:t>
            </a:r>
          </a:p>
          <a:p>
            <a:pPr marL="285750" indent="-285750">
              <a:buFontTx/>
              <a:buChar char="-"/>
            </a:pPr>
            <a:r>
              <a:rPr lang="en-US" b="1" dirty="0">
                <a:solidFill>
                  <a:schemeClr val="tx1"/>
                </a:solidFill>
              </a:rPr>
              <a:t>dancing</a:t>
            </a:r>
          </a:p>
        </p:txBody>
      </p:sp>
      <p:sp>
        <p:nvSpPr>
          <p:cNvPr id="5" name="Rectangle: Rounded Corners 4">
            <a:extLst>
              <a:ext uri="{FF2B5EF4-FFF2-40B4-BE49-F238E27FC236}">
                <a16:creationId xmlns:a16="http://schemas.microsoft.com/office/drawing/2014/main" id="{36072206-372D-EE55-28E4-18422E59FB4F}"/>
              </a:ext>
            </a:extLst>
          </p:cNvPr>
          <p:cNvSpPr/>
          <p:nvPr/>
        </p:nvSpPr>
        <p:spPr>
          <a:xfrm>
            <a:off x="220982" y="2117098"/>
            <a:ext cx="3028188" cy="4120896"/>
          </a:xfrm>
          <a:prstGeom prst="roundRect">
            <a:avLst/>
          </a:prstGeom>
          <a:solidFill>
            <a:schemeClr val="accent1">
              <a:lumMod val="60000"/>
              <a:lumOff val="4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b="1" dirty="0">
              <a:solidFill>
                <a:schemeClr val="tx1"/>
              </a:solidFill>
            </a:endParaRPr>
          </a:p>
        </p:txBody>
      </p:sp>
      <p:sp>
        <p:nvSpPr>
          <p:cNvPr id="6" name="Rectangle: Rounded Corners 5">
            <a:extLst>
              <a:ext uri="{FF2B5EF4-FFF2-40B4-BE49-F238E27FC236}">
                <a16:creationId xmlns:a16="http://schemas.microsoft.com/office/drawing/2014/main" id="{9C0089F0-F9F5-6D83-32E6-3E6DFEE3A8C6}"/>
              </a:ext>
            </a:extLst>
          </p:cNvPr>
          <p:cNvSpPr/>
          <p:nvPr/>
        </p:nvSpPr>
        <p:spPr>
          <a:xfrm>
            <a:off x="8251698" y="2101223"/>
            <a:ext cx="3028188" cy="4002024"/>
          </a:xfrm>
          <a:prstGeom prst="roundRect">
            <a:avLst/>
          </a:prstGeom>
          <a:solidFill>
            <a:schemeClr val="accent1">
              <a:lumMod val="60000"/>
              <a:lumOff val="40000"/>
            </a:scheme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en-US" dirty="0">
                <a:solidFill>
                  <a:schemeClr val="tx1"/>
                </a:solidFill>
                <a:latin typeface="Arial" panose="020B0604020202020204" pitchFamily="34" charset="0"/>
              </a:rPr>
              <a:t>---</a:t>
            </a:r>
          </a:p>
          <a:p>
            <a:r>
              <a:rPr lang="en-US" altLang="en-US" b="1" dirty="0">
                <a:solidFill>
                  <a:schemeClr val="tx1"/>
                </a:solidFill>
                <a:latin typeface="Arial" panose="020B0604020202020204" pitchFamily="34" charset="0"/>
              </a:rPr>
              <a:t>student2: </a:t>
            </a:r>
          </a:p>
          <a:p>
            <a:r>
              <a:rPr lang="en-US" altLang="en-US" b="1" dirty="0" err="1">
                <a:solidFill>
                  <a:schemeClr val="tx1"/>
                </a:solidFill>
                <a:latin typeface="Arial" panose="020B0604020202020204" pitchFamily="34" charset="0"/>
              </a:rPr>
              <a:t>fatherName</a:t>
            </a:r>
            <a:r>
              <a:rPr lang="en-US" altLang="en-US" b="1" dirty="0">
                <a:solidFill>
                  <a:schemeClr val="tx1"/>
                </a:solidFill>
                <a:latin typeface="Arial" panose="020B0604020202020204" pitchFamily="34" charset="0"/>
              </a:rPr>
              <a:t>: "Grey"   </a:t>
            </a:r>
            <a:r>
              <a:rPr lang="en-US" altLang="en-US" b="1" dirty="0" err="1">
                <a:solidFill>
                  <a:schemeClr val="tx1"/>
                </a:solidFill>
                <a:latin typeface="Arial" panose="020B0604020202020204" pitchFamily="34" charset="0"/>
              </a:rPr>
              <a:t>motherName</a:t>
            </a:r>
            <a:r>
              <a:rPr lang="en-US" altLang="en-US" b="1" dirty="0">
                <a:solidFill>
                  <a:schemeClr val="tx1"/>
                </a:solidFill>
                <a:latin typeface="Arial" panose="020B0604020202020204" pitchFamily="34" charset="0"/>
              </a:rPr>
              <a:t>: "Winey"  </a:t>
            </a:r>
            <a:r>
              <a:rPr lang="en-US" altLang="en-US" b="1" dirty="0" err="1">
                <a:solidFill>
                  <a:schemeClr val="tx1"/>
                </a:solidFill>
                <a:latin typeface="Arial" panose="020B0604020202020204" pitchFamily="34" charset="0"/>
              </a:rPr>
              <a:t>subjectDetails</a:t>
            </a:r>
            <a:r>
              <a:rPr lang="en-US" altLang="en-US" b="1" dirty="0">
                <a:solidFill>
                  <a:schemeClr val="tx1"/>
                </a:solidFill>
                <a:latin typeface="Arial" panose="020B0604020202020204" pitchFamily="34" charset="0"/>
              </a:rPr>
              <a:t>: </a:t>
            </a:r>
          </a:p>
          <a:p>
            <a:r>
              <a:rPr lang="en-US" altLang="en-US" b="1" dirty="0">
                <a:solidFill>
                  <a:schemeClr val="tx1"/>
                </a:solidFill>
                <a:latin typeface="Arial" panose="020B0604020202020204" pitchFamily="34" charset="0"/>
              </a:rPr>
              <a:t>   subject1: 70 </a:t>
            </a:r>
          </a:p>
          <a:p>
            <a:r>
              <a:rPr lang="en-US" altLang="en-US" b="1" dirty="0">
                <a:solidFill>
                  <a:schemeClr val="tx1"/>
                </a:solidFill>
                <a:latin typeface="Arial" panose="020B0604020202020204" pitchFamily="34" charset="0"/>
              </a:rPr>
              <a:t>   subject2: 100</a:t>
            </a:r>
          </a:p>
          <a:p>
            <a:endParaRPr lang="en-US" b="1" dirty="0">
              <a:solidFill>
                <a:schemeClr val="tx1"/>
              </a:solidFill>
            </a:endParaRPr>
          </a:p>
        </p:txBody>
      </p:sp>
      <p:sp>
        <p:nvSpPr>
          <p:cNvPr id="9" name="TextBox 8">
            <a:extLst>
              <a:ext uri="{FF2B5EF4-FFF2-40B4-BE49-F238E27FC236}">
                <a16:creationId xmlns:a16="http://schemas.microsoft.com/office/drawing/2014/main" id="{FB9BC03A-CD9D-FEE8-F70C-EC07C3AA61E7}"/>
              </a:ext>
            </a:extLst>
          </p:cNvPr>
          <p:cNvSpPr txBox="1"/>
          <p:nvPr/>
        </p:nvSpPr>
        <p:spPr>
          <a:xfrm>
            <a:off x="488442" y="1581465"/>
            <a:ext cx="1760982" cy="461665"/>
          </a:xfrm>
          <a:prstGeom prst="rect">
            <a:avLst/>
          </a:prstGeom>
          <a:noFill/>
        </p:spPr>
        <p:txBody>
          <a:bodyPr wrap="square">
            <a:spAutoFit/>
          </a:bodyPr>
          <a:lstStyle/>
          <a:p>
            <a:r>
              <a:rPr lang="en-US" sz="2400" b="1" dirty="0"/>
              <a:t>List</a:t>
            </a:r>
          </a:p>
        </p:txBody>
      </p:sp>
      <p:sp>
        <p:nvSpPr>
          <p:cNvPr id="10" name="TextBox 9">
            <a:extLst>
              <a:ext uri="{FF2B5EF4-FFF2-40B4-BE49-F238E27FC236}">
                <a16:creationId xmlns:a16="http://schemas.microsoft.com/office/drawing/2014/main" id="{F466599C-3A41-CA2D-8657-30151EF83398}"/>
              </a:ext>
            </a:extLst>
          </p:cNvPr>
          <p:cNvSpPr txBox="1"/>
          <p:nvPr/>
        </p:nvSpPr>
        <p:spPr>
          <a:xfrm>
            <a:off x="4417314" y="1581465"/>
            <a:ext cx="1760982" cy="461665"/>
          </a:xfrm>
          <a:prstGeom prst="rect">
            <a:avLst/>
          </a:prstGeom>
          <a:noFill/>
        </p:spPr>
        <p:txBody>
          <a:bodyPr wrap="square">
            <a:spAutoFit/>
          </a:bodyPr>
          <a:lstStyle/>
          <a:p>
            <a:r>
              <a:rPr lang="en-US" sz="2400" b="1" dirty="0"/>
              <a:t>Nested list</a:t>
            </a:r>
          </a:p>
        </p:txBody>
      </p:sp>
      <p:sp>
        <p:nvSpPr>
          <p:cNvPr id="11" name="TextBox 10">
            <a:extLst>
              <a:ext uri="{FF2B5EF4-FFF2-40B4-BE49-F238E27FC236}">
                <a16:creationId xmlns:a16="http://schemas.microsoft.com/office/drawing/2014/main" id="{05D468D6-24E0-5091-1ECD-58F045C161F0}"/>
              </a:ext>
            </a:extLst>
          </p:cNvPr>
          <p:cNvSpPr txBox="1"/>
          <p:nvPr/>
        </p:nvSpPr>
        <p:spPr>
          <a:xfrm>
            <a:off x="8346186" y="1581465"/>
            <a:ext cx="2891790" cy="461665"/>
          </a:xfrm>
          <a:prstGeom prst="rect">
            <a:avLst/>
          </a:prstGeom>
          <a:noFill/>
        </p:spPr>
        <p:txBody>
          <a:bodyPr wrap="square">
            <a:spAutoFit/>
          </a:bodyPr>
          <a:lstStyle/>
          <a:p>
            <a:r>
              <a:rPr lang="en-US" sz="2400" b="1" dirty="0"/>
              <a:t>Nested Dictionary</a:t>
            </a:r>
          </a:p>
        </p:txBody>
      </p:sp>
      <p:sp>
        <p:nvSpPr>
          <p:cNvPr id="18" name="Rectangle 7">
            <a:extLst>
              <a:ext uri="{FF2B5EF4-FFF2-40B4-BE49-F238E27FC236}">
                <a16:creationId xmlns:a16="http://schemas.microsoft.com/office/drawing/2014/main" id="{48CCB916-370A-B2F4-FE91-45F4B852332A}"/>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9" name="Rectangle 8">
            <a:extLst>
              <a:ext uri="{FF2B5EF4-FFF2-40B4-BE49-F238E27FC236}">
                <a16:creationId xmlns:a16="http://schemas.microsoft.com/office/drawing/2014/main" id="{31FC05B0-D17B-B442-720A-DE6DD88C20F3}"/>
              </a:ext>
            </a:extLst>
          </p:cNvPr>
          <p:cNvSpPr>
            <a:spLocks noChangeArrowheads="1"/>
          </p:cNvSpPr>
          <p:nvPr/>
        </p:nvSpPr>
        <p:spPr bwMode="auto">
          <a:xfrm>
            <a:off x="625521" y="3193223"/>
            <a:ext cx="135806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t>--- </a:t>
            </a:r>
          </a:p>
          <a:p>
            <a:pPr marL="285750" lvl="0" indent="-285750" eaLnBrk="0" fontAlgn="base" hangingPunct="0">
              <a:spcBef>
                <a:spcPct val="0"/>
              </a:spcBef>
              <a:spcAft>
                <a:spcPct val="0"/>
              </a:spcAft>
              <a:buFontTx/>
              <a:buChar char="-"/>
            </a:pPr>
            <a:r>
              <a:rPr lang="en-US" b="1" dirty="0"/>
              <a:t>apple </a:t>
            </a:r>
          </a:p>
          <a:p>
            <a:pPr marL="285750" lvl="0" indent="-285750" eaLnBrk="0" fontAlgn="base" hangingPunct="0">
              <a:spcBef>
                <a:spcPct val="0"/>
              </a:spcBef>
              <a:spcAft>
                <a:spcPct val="0"/>
              </a:spcAft>
              <a:buFontTx/>
              <a:buChar char="-"/>
            </a:pPr>
            <a:r>
              <a:rPr lang="en-US" b="1" dirty="0"/>
              <a:t>banana </a:t>
            </a:r>
          </a:p>
          <a:p>
            <a:pPr marL="285750" lvl="0" indent="-285750" eaLnBrk="0" fontAlgn="base" hangingPunct="0">
              <a:spcBef>
                <a:spcPct val="0"/>
              </a:spcBef>
              <a:spcAft>
                <a:spcPct val="0"/>
              </a:spcAft>
              <a:buFontTx/>
              <a:buChar char="-"/>
            </a:pPr>
            <a:r>
              <a:rPr lang="en-US" b="1" dirty="0"/>
              <a:t>mango</a:t>
            </a:r>
            <a:r>
              <a:rPr kumimoji="0" lang="en-US" altLang="en-US" sz="18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9">
            <a:extLst>
              <a:ext uri="{FF2B5EF4-FFF2-40B4-BE49-F238E27FC236}">
                <a16:creationId xmlns:a16="http://schemas.microsoft.com/office/drawing/2014/main" id="{99463640-21C7-9AE2-22E6-C557FD75F4B3}"/>
              </a:ext>
            </a:extLst>
          </p:cNvPr>
          <p:cNvSpPr>
            <a:spLocks noChangeArrowheads="1"/>
          </p:cNvSpPr>
          <p:nvPr/>
        </p:nvSpPr>
        <p:spPr bwMode="auto">
          <a:xfrm>
            <a:off x="82296" y="-15875"/>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914114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1412A-2FB0-4659-61C2-B32520323D39}"/>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3BF8E5BB-4282-3B3E-87C4-15AAB8B7D67D}"/>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154DB835-BB68-568A-B6F1-3BACA9BE5A3D}"/>
              </a:ext>
            </a:extLst>
          </p:cNvPr>
          <p:cNvSpPr>
            <a:spLocks noGrp="1"/>
          </p:cNvSpPr>
          <p:nvPr>
            <p:ph type="ctrTitle"/>
          </p:nvPr>
        </p:nvSpPr>
        <p:spPr>
          <a:xfrm>
            <a:off x="477981" y="1122363"/>
            <a:ext cx="4023360" cy="3204134"/>
          </a:xfrm>
        </p:spPr>
        <p:txBody>
          <a:bodyPr anchor="b">
            <a:normAutofit/>
          </a:bodyPr>
          <a:lstStyle/>
          <a:p>
            <a:r>
              <a:rPr lang="en-US" sz="4800" dirty="0"/>
              <a:t>Maven </a:t>
            </a:r>
          </a:p>
        </p:txBody>
      </p:sp>
    </p:spTree>
    <p:extLst>
      <p:ext uri="{BB962C8B-B14F-4D97-AF65-F5344CB8AC3E}">
        <p14:creationId xmlns:p14="http://schemas.microsoft.com/office/powerpoint/2010/main" val="1546835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FC166-87B1-C0CB-CD4A-4A38C137D6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F0E593-4708-6469-0571-1686D973D5DE}"/>
              </a:ext>
            </a:extLst>
          </p:cNvPr>
          <p:cNvSpPr txBox="1"/>
          <p:nvPr/>
        </p:nvSpPr>
        <p:spPr>
          <a:xfrm>
            <a:off x="3048762" y="620006"/>
            <a:ext cx="6094476" cy="461665"/>
          </a:xfrm>
          <a:prstGeom prst="rect">
            <a:avLst/>
          </a:prstGeom>
          <a:noFill/>
        </p:spPr>
        <p:txBody>
          <a:bodyPr wrap="square">
            <a:spAutoFit/>
          </a:bodyPr>
          <a:lstStyle/>
          <a:p>
            <a:pPr algn="ctr"/>
            <a:r>
              <a:rPr lang="en-US" sz="2400" b="1" dirty="0"/>
              <a:t>Maven</a:t>
            </a:r>
          </a:p>
        </p:txBody>
      </p:sp>
      <p:sp>
        <p:nvSpPr>
          <p:cNvPr id="4" name="TextBox 3">
            <a:extLst>
              <a:ext uri="{FF2B5EF4-FFF2-40B4-BE49-F238E27FC236}">
                <a16:creationId xmlns:a16="http://schemas.microsoft.com/office/drawing/2014/main" id="{E0D19B14-D964-3E37-EE40-67C74D9719B0}"/>
              </a:ext>
            </a:extLst>
          </p:cNvPr>
          <p:cNvSpPr txBox="1"/>
          <p:nvPr/>
        </p:nvSpPr>
        <p:spPr>
          <a:xfrm>
            <a:off x="380488" y="1335798"/>
            <a:ext cx="11217402" cy="4477572"/>
          </a:xfrm>
          <a:prstGeom prst="rect">
            <a:avLst/>
          </a:prstGeom>
          <a:noFill/>
        </p:spPr>
        <p:txBody>
          <a:bodyPr wrap="square">
            <a:spAutoFit/>
          </a:bodyPr>
          <a:lstStyle/>
          <a:p>
            <a:r>
              <a:rPr lang="en-US" b="1" dirty="0" err="1"/>
              <a:t>Mavn</a:t>
            </a:r>
            <a:r>
              <a:rPr lang="en-US" b="1" dirty="0"/>
              <a:t>:</a:t>
            </a:r>
          </a:p>
          <a:p>
            <a:pPr lvl="0">
              <a:lnSpc>
                <a:spcPct val="150000"/>
              </a:lnSpc>
            </a:pPr>
            <a:r>
              <a:rPr lang="en-US" b="1" dirty="0"/>
              <a:t>Maven</a:t>
            </a:r>
            <a:r>
              <a:rPr lang="en-US" dirty="0"/>
              <a:t> is a powerful </a:t>
            </a:r>
            <a:r>
              <a:rPr lang="en-US" b="1" dirty="0"/>
              <a:t>project management</a:t>
            </a:r>
            <a:r>
              <a:rPr lang="en-US" dirty="0"/>
              <a:t> and </a:t>
            </a:r>
            <a:r>
              <a:rPr lang="en-US" b="1" dirty="0"/>
              <a:t>build automation tool</a:t>
            </a:r>
            <a:r>
              <a:rPr lang="en-US" dirty="0"/>
              <a:t> used primarily for Java applications.</a:t>
            </a:r>
          </a:p>
          <a:p>
            <a:pPr lvl="0">
              <a:lnSpc>
                <a:spcPct val="150000"/>
              </a:lnSpc>
            </a:pPr>
            <a:r>
              <a:rPr lang="en-US" dirty="0"/>
              <a:t>It simplifies the process of:</a:t>
            </a:r>
          </a:p>
          <a:p>
            <a:pPr marL="742950" lvl="1" indent="-285750">
              <a:lnSpc>
                <a:spcPct val="150000"/>
              </a:lnSpc>
              <a:buFont typeface="Arial" panose="020B0604020202020204" pitchFamily="34" charset="0"/>
              <a:buChar char="•"/>
            </a:pPr>
            <a:r>
              <a:rPr lang="en-US" dirty="0"/>
              <a:t>Building Java projects</a:t>
            </a:r>
          </a:p>
          <a:p>
            <a:pPr marL="742950" lvl="1" indent="-285750">
              <a:lnSpc>
                <a:spcPct val="150000"/>
              </a:lnSpc>
              <a:buFont typeface="Arial" panose="020B0604020202020204" pitchFamily="34" charset="0"/>
              <a:buChar char="•"/>
            </a:pPr>
            <a:r>
              <a:rPr lang="en-US" dirty="0"/>
              <a:t>Managing dependencies</a:t>
            </a:r>
          </a:p>
          <a:p>
            <a:pPr marL="742950" lvl="1" indent="-285750">
              <a:lnSpc>
                <a:spcPct val="150000"/>
              </a:lnSpc>
              <a:buFont typeface="Arial" panose="020B0604020202020204" pitchFamily="34" charset="0"/>
              <a:buChar char="•"/>
            </a:pPr>
            <a:r>
              <a:rPr lang="en-US" dirty="0"/>
              <a:t>Creating documentation</a:t>
            </a:r>
          </a:p>
          <a:p>
            <a:pPr marL="742950" lvl="1" indent="-285750">
              <a:lnSpc>
                <a:spcPct val="150000"/>
              </a:lnSpc>
              <a:buFont typeface="Arial" panose="020B0604020202020204" pitchFamily="34" charset="0"/>
              <a:buChar char="•"/>
            </a:pPr>
            <a:r>
              <a:rPr lang="en-US" dirty="0"/>
              <a:t>Running test plans</a:t>
            </a:r>
          </a:p>
          <a:p>
            <a:pPr marL="742950" lvl="1" indent="-285750">
              <a:lnSpc>
                <a:spcPct val="150000"/>
              </a:lnSpc>
              <a:buFont typeface="Arial" panose="020B0604020202020204" pitchFamily="34" charset="0"/>
              <a:buChar char="•"/>
            </a:pPr>
            <a:r>
              <a:rPr lang="en-US" dirty="0"/>
              <a:t>Packaging and deploying applications</a:t>
            </a:r>
          </a:p>
          <a:p>
            <a:pPr lvl="0">
              <a:lnSpc>
                <a:spcPct val="150000"/>
              </a:lnSpc>
            </a:pPr>
            <a:r>
              <a:rPr lang="en-US" dirty="0"/>
              <a:t>Maven is widely used in enterprise Java environments for its standardization and ease of configuration via XML.</a:t>
            </a:r>
          </a:p>
        </p:txBody>
      </p:sp>
    </p:spTree>
    <p:extLst>
      <p:ext uri="{BB962C8B-B14F-4D97-AF65-F5344CB8AC3E}">
        <p14:creationId xmlns:p14="http://schemas.microsoft.com/office/powerpoint/2010/main" val="1346562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E6E4F-79AD-B3AD-849F-740A784BF7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8E7D96-0A7B-CEB4-BF9D-20E9296EC48E}"/>
              </a:ext>
            </a:extLst>
          </p:cNvPr>
          <p:cNvSpPr txBox="1"/>
          <p:nvPr/>
        </p:nvSpPr>
        <p:spPr>
          <a:xfrm>
            <a:off x="3048762" y="620006"/>
            <a:ext cx="6094476" cy="461665"/>
          </a:xfrm>
          <a:prstGeom prst="rect">
            <a:avLst/>
          </a:prstGeom>
          <a:noFill/>
        </p:spPr>
        <p:txBody>
          <a:bodyPr wrap="square">
            <a:spAutoFit/>
          </a:bodyPr>
          <a:lstStyle/>
          <a:p>
            <a:pPr algn="ctr"/>
            <a:r>
              <a:rPr lang="en-US" sz="2400" b="1" dirty="0"/>
              <a:t>POM.xml</a:t>
            </a:r>
          </a:p>
        </p:txBody>
      </p:sp>
      <p:sp>
        <p:nvSpPr>
          <p:cNvPr id="4" name="TextBox 3">
            <a:extLst>
              <a:ext uri="{FF2B5EF4-FFF2-40B4-BE49-F238E27FC236}">
                <a16:creationId xmlns:a16="http://schemas.microsoft.com/office/drawing/2014/main" id="{EC492A1D-4C2C-C8E2-156E-F2D3086BD0CC}"/>
              </a:ext>
            </a:extLst>
          </p:cNvPr>
          <p:cNvSpPr txBox="1"/>
          <p:nvPr/>
        </p:nvSpPr>
        <p:spPr>
          <a:xfrm>
            <a:off x="380488" y="1081671"/>
            <a:ext cx="11217402" cy="4801314"/>
          </a:xfrm>
          <a:prstGeom prst="rect">
            <a:avLst/>
          </a:prstGeom>
          <a:noFill/>
        </p:spPr>
        <p:txBody>
          <a:bodyPr wrap="square">
            <a:spAutoFit/>
          </a:bodyPr>
          <a:lstStyle/>
          <a:p>
            <a:endParaRPr lang="en-US" b="1" dirty="0"/>
          </a:p>
          <a:p>
            <a:pPr lvl="0"/>
            <a:r>
              <a:rPr lang="en-US" sz="2400" b="1" dirty="0"/>
              <a:t>POM</a:t>
            </a:r>
            <a:r>
              <a:rPr lang="en-US" sz="2400" dirty="0"/>
              <a:t> stands for </a:t>
            </a:r>
            <a:r>
              <a:rPr lang="en-US" sz="2400" b="1" dirty="0"/>
              <a:t>Project Object Model</a:t>
            </a:r>
            <a:r>
              <a:rPr lang="en-US" sz="2400" dirty="0"/>
              <a:t>.</a:t>
            </a:r>
          </a:p>
          <a:p>
            <a:pPr lvl="0"/>
            <a:endParaRPr lang="en-US" sz="2400" dirty="0"/>
          </a:p>
          <a:p>
            <a:pPr lvl="0"/>
            <a:r>
              <a:rPr lang="en-US" sz="2400" dirty="0"/>
              <a:t>It is an </a:t>
            </a:r>
            <a:r>
              <a:rPr lang="en-US" sz="2400" b="1" dirty="0"/>
              <a:t>XML file (pom.xml)</a:t>
            </a:r>
            <a:r>
              <a:rPr lang="en-US" sz="2400" dirty="0"/>
              <a:t> located at the root of a Maven project.</a:t>
            </a:r>
          </a:p>
          <a:p>
            <a:pPr lvl="0"/>
            <a:r>
              <a:rPr lang="en-US" sz="2400" dirty="0"/>
              <a:t>It contains information about the project and configuration details used by Maven to build the project.</a:t>
            </a:r>
          </a:p>
          <a:p>
            <a:pPr lvl="0"/>
            <a:endParaRPr lang="en-US" sz="2400" dirty="0"/>
          </a:p>
          <a:p>
            <a:pPr lvl="0"/>
            <a:r>
              <a:rPr lang="en-US" sz="2400" dirty="0"/>
              <a:t>Key contents:</a:t>
            </a:r>
          </a:p>
          <a:p>
            <a:pPr marL="800100" lvl="1" indent="-342900">
              <a:buFont typeface="Arial" panose="020B0604020202020204" pitchFamily="34" charset="0"/>
              <a:buChar char="•"/>
            </a:pPr>
            <a:r>
              <a:rPr lang="en-US" sz="2400" dirty="0"/>
              <a:t>Project metadata: </a:t>
            </a:r>
            <a:r>
              <a:rPr lang="en-US" sz="2400" dirty="0" err="1"/>
              <a:t>groupId</a:t>
            </a:r>
            <a:r>
              <a:rPr lang="en-US" sz="2400" dirty="0"/>
              <a:t>, </a:t>
            </a:r>
            <a:r>
              <a:rPr lang="en-US" sz="2400" dirty="0" err="1"/>
              <a:t>artifactId</a:t>
            </a:r>
            <a:r>
              <a:rPr lang="en-US" sz="2400" dirty="0"/>
              <a:t>, version</a:t>
            </a:r>
          </a:p>
          <a:p>
            <a:pPr marL="800100" lvl="1" indent="-342900">
              <a:buFont typeface="Arial" panose="020B0604020202020204" pitchFamily="34" charset="0"/>
              <a:buChar char="•"/>
            </a:pPr>
            <a:r>
              <a:rPr lang="en-US" sz="2400" dirty="0"/>
              <a:t>Project dependencies (external libraries)</a:t>
            </a:r>
          </a:p>
          <a:p>
            <a:pPr marL="800100" lvl="1" indent="-342900">
              <a:buFont typeface="Arial" panose="020B0604020202020204" pitchFamily="34" charset="0"/>
              <a:buChar char="•"/>
            </a:pPr>
            <a:r>
              <a:rPr lang="en-US" sz="2400" dirty="0"/>
              <a:t>Plugins</a:t>
            </a:r>
          </a:p>
          <a:p>
            <a:pPr marL="800100" lvl="1" indent="-342900">
              <a:buFont typeface="Arial" panose="020B0604020202020204" pitchFamily="34" charset="0"/>
              <a:buChar char="•"/>
            </a:pPr>
            <a:r>
              <a:rPr lang="en-US" sz="2400" dirty="0"/>
              <a:t>Build profiles</a:t>
            </a:r>
          </a:p>
          <a:p>
            <a:pPr marL="800100" lvl="1" indent="-342900">
              <a:buFont typeface="Arial" panose="020B0604020202020204" pitchFamily="34" charset="0"/>
              <a:buChar char="•"/>
            </a:pPr>
            <a:r>
              <a:rPr lang="en-US" sz="2400" dirty="0"/>
              <a:t>Lifecycle and goals</a:t>
            </a:r>
          </a:p>
        </p:txBody>
      </p:sp>
    </p:spTree>
    <p:extLst>
      <p:ext uri="{BB962C8B-B14F-4D97-AF65-F5344CB8AC3E}">
        <p14:creationId xmlns:p14="http://schemas.microsoft.com/office/powerpoint/2010/main" val="649013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3E4FD-1F87-E55F-563B-EC4F5CBF0C0B}"/>
              </a:ext>
            </a:extLst>
          </p:cNvPr>
          <p:cNvSpPr>
            <a:spLocks noGrp="1"/>
          </p:cNvSpPr>
          <p:nvPr>
            <p:ph type="title"/>
          </p:nvPr>
        </p:nvSpPr>
        <p:spPr/>
        <p:txBody>
          <a:bodyPr/>
          <a:lstStyle/>
          <a:p>
            <a:r>
              <a:rPr lang="en-US" dirty="0"/>
              <a:t>POM File</a:t>
            </a:r>
          </a:p>
        </p:txBody>
      </p:sp>
      <p:sp>
        <p:nvSpPr>
          <p:cNvPr id="5" name="TextBox 4">
            <a:extLst>
              <a:ext uri="{FF2B5EF4-FFF2-40B4-BE49-F238E27FC236}">
                <a16:creationId xmlns:a16="http://schemas.microsoft.com/office/drawing/2014/main" id="{2052C5B2-A4B8-3170-1663-73D8E5EA58DF}"/>
              </a:ext>
            </a:extLst>
          </p:cNvPr>
          <p:cNvSpPr txBox="1"/>
          <p:nvPr/>
        </p:nvSpPr>
        <p:spPr>
          <a:xfrm>
            <a:off x="549640" y="2284407"/>
            <a:ext cx="11092720" cy="3785652"/>
          </a:xfrm>
          <a:prstGeom prst="rect">
            <a:avLst/>
          </a:prstGeom>
          <a:noFill/>
        </p:spPr>
        <p:txBody>
          <a:bodyPr wrap="square">
            <a:spAutoFit/>
          </a:bodyPr>
          <a:lstStyle/>
          <a:p>
            <a:r>
              <a:rPr lang="en-US" sz="2000" b="1" dirty="0"/>
              <a:t>&lt;project </a:t>
            </a:r>
            <a:r>
              <a:rPr lang="en-US" sz="2000" b="1" dirty="0" err="1"/>
              <a:t>xmlns</a:t>
            </a:r>
            <a:r>
              <a:rPr lang="en-US" sz="2000" b="1" dirty="0"/>
              <a:t>="http://maven.apache.org/POM/4.0.0"</a:t>
            </a:r>
          </a:p>
          <a:p>
            <a:r>
              <a:rPr lang="en-US" sz="2000" b="1" dirty="0"/>
              <a:t>         </a:t>
            </a:r>
            <a:r>
              <a:rPr lang="en-US" sz="2000" b="1" dirty="0" err="1"/>
              <a:t>xsi:schemaLocation</a:t>
            </a:r>
            <a:r>
              <a:rPr lang="en-US" sz="2000" b="1" dirty="0"/>
              <a:t>="http://maven.apache.org/POM/4.0.0</a:t>
            </a:r>
          </a:p>
          <a:p>
            <a:r>
              <a:rPr lang="en-US" sz="2000" b="1" dirty="0"/>
              <a:t>         http://maven.apache.org/maven-v4_0_0.xsd"&gt;</a:t>
            </a:r>
          </a:p>
          <a:p>
            <a:r>
              <a:rPr lang="en-US" sz="2000" b="1" dirty="0"/>
              <a:t>         </a:t>
            </a:r>
          </a:p>
          <a:p>
            <a:r>
              <a:rPr lang="en-US" sz="2000" b="1" dirty="0"/>
              <a:t>  &lt;</a:t>
            </a:r>
            <a:r>
              <a:rPr lang="en-US" sz="2000" b="1" dirty="0" err="1"/>
              <a:t>modelVersion</a:t>
            </a:r>
            <a:r>
              <a:rPr lang="en-US" sz="2000" b="1" dirty="0"/>
              <a:t>&gt;4.0.0&lt;/</a:t>
            </a:r>
            <a:r>
              <a:rPr lang="en-US" sz="2000" b="1" dirty="0" err="1"/>
              <a:t>modelVersion</a:t>
            </a:r>
            <a:r>
              <a:rPr lang="en-US" sz="2000" b="1" dirty="0"/>
              <a:t>&gt;              </a:t>
            </a:r>
            <a:r>
              <a:rPr lang="en-US" sz="2000" b="1" dirty="0">
                <a:solidFill>
                  <a:srgbClr val="FF0000"/>
                </a:solidFill>
              </a:rPr>
              <a:t>&lt;!-- Specifies the model version --&gt;</a:t>
            </a:r>
          </a:p>
          <a:p>
            <a:r>
              <a:rPr lang="en-US" sz="2000" b="1" dirty="0"/>
              <a:t>  &lt;</a:t>
            </a:r>
            <a:r>
              <a:rPr lang="en-US" sz="2000" b="1" dirty="0" err="1"/>
              <a:t>groupId</a:t>
            </a:r>
            <a:r>
              <a:rPr lang="en-US" sz="2000" b="1" dirty="0"/>
              <a:t>&gt;</a:t>
            </a:r>
            <a:r>
              <a:rPr lang="en-US" sz="2000" b="1" dirty="0" err="1"/>
              <a:t>com.mycompany.app</a:t>
            </a:r>
            <a:r>
              <a:rPr lang="en-US" sz="2000" b="1" dirty="0"/>
              <a:t>&lt;/</a:t>
            </a:r>
            <a:r>
              <a:rPr lang="en-US" sz="2000" b="1" dirty="0" err="1"/>
              <a:t>groupId</a:t>
            </a:r>
            <a:r>
              <a:rPr lang="en-US" sz="2000" b="1" dirty="0"/>
              <a:t>&gt;            </a:t>
            </a:r>
            <a:r>
              <a:rPr lang="en-US" sz="2000" b="1" dirty="0">
                <a:solidFill>
                  <a:srgbClr val="FF0000"/>
                </a:solidFill>
              </a:rPr>
              <a:t>&lt;!-- Specifies project group ID --&gt;</a:t>
            </a:r>
          </a:p>
          <a:p>
            <a:r>
              <a:rPr lang="en-US" sz="2000" b="1" dirty="0"/>
              <a:t>  &lt;</a:t>
            </a:r>
            <a:r>
              <a:rPr lang="en-US" sz="2000" b="1" dirty="0" err="1"/>
              <a:t>artifactId</a:t>
            </a:r>
            <a:r>
              <a:rPr lang="en-US" sz="2000" b="1" dirty="0"/>
              <a:t>&gt;my-app&lt;/</a:t>
            </a:r>
            <a:r>
              <a:rPr lang="en-US" sz="2000" b="1" dirty="0" err="1"/>
              <a:t>artifactId</a:t>
            </a:r>
            <a:r>
              <a:rPr lang="en-US" sz="2000" b="1" dirty="0">
                <a:solidFill>
                  <a:srgbClr val="FF0000"/>
                </a:solidFill>
              </a:rPr>
              <a:t>&gt;                 &lt;!-- Specifies project artifact ID --&gt;</a:t>
            </a:r>
          </a:p>
          <a:p>
            <a:r>
              <a:rPr lang="en-US" sz="2000" b="1" dirty="0"/>
              <a:t>  &lt;packaging&gt;jar&lt;/packaging&gt;                      </a:t>
            </a:r>
            <a:r>
              <a:rPr lang="en-US" sz="2000" b="1" dirty="0">
                <a:solidFill>
                  <a:srgbClr val="FF0000"/>
                </a:solidFill>
              </a:rPr>
              <a:t>&lt;!-- Defines packaging type (jar, war, etc.) --&gt;</a:t>
            </a:r>
          </a:p>
          <a:p>
            <a:r>
              <a:rPr lang="en-US" sz="2000" b="1" dirty="0"/>
              <a:t>  &lt;version&gt;1.0-SNAPSHOT&lt;/version&gt;                 </a:t>
            </a:r>
            <a:r>
              <a:rPr lang="en-US" sz="2000" b="1" dirty="0">
                <a:solidFill>
                  <a:srgbClr val="FF0000"/>
                </a:solidFill>
              </a:rPr>
              <a:t>&lt;!-- Project version --&gt;</a:t>
            </a:r>
          </a:p>
          <a:p>
            <a:r>
              <a:rPr lang="en-US" sz="2000" b="1" dirty="0"/>
              <a:t>  &lt;name&gt;my-app&lt;/name&gt;                             </a:t>
            </a:r>
            <a:r>
              <a:rPr lang="en-US" sz="2000" b="1" dirty="0">
                <a:solidFill>
                  <a:srgbClr val="FF0000"/>
                </a:solidFill>
              </a:rPr>
              <a:t>&lt;!-- Name of the Maven project --&gt;</a:t>
            </a:r>
          </a:p>
          <a:p>
            <a:r>
              <a:rPr lang="en-US" sz="2000" b="1" dirty="0"/>
              <a:t>  &lt;</a:t>
            </a:r>
            <a:r>
              <a:rPr lang="en-US" sz="2000" b="1" dirty="0" err="1"/>
              <a:t>url</a:t>
            </a:r>
            <a:r>
              <a:rPr lang="en-US" sz="2000" b="1" dirty="0"/>
              <a:t>&gt;http://maven.apache.org&lt;/url&gt;              </a:t>
            </a:r>
            <a:r>
              <a:rPr lang="en-US" sz="2000" b="1" dirty="0">
                <a:solidFill>
                  <a:srgbClr val="FF0000"/>
                </a:solidFill>
              </a:rPr>
              <a:t>&lt;!-- Project or organization URL --&gt;</a:t>
            </a:r>
          </a:p>
          <a:p>
            <a:r>
              <a:rPr lang="en-US" sz="2000" b="1" dirty="0"/>
              <a:t>&lt;/project&gt;</a:t>
            </a:r>
          </a:p>
        </p:txBody>
      </p:sp>
    </p:spTree>
    <p:extLst>
      <p:ext uri="{BB962C8B-B14F-4D97-AF65-F5344CB8AC3E}">
        <p14:creationId xmlns:p14="http://schemas.microsoft.com/office/powerpoint/2010/main" val="4206544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91A8F-DF95-0043-B99F-AE4AF5DAD0D3}"/>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36A86EB8-B2E5-3004-74BC-2BD835165431}"/>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B936C09D-08A6-4CE6-83A9-B3999AED8146}"/>
              </a:ext>
            </a:extLst>
          </p:cNvPr>
          <p:cNvSpPr>
            <a:spLocks noGrp="1"/>
          </p:cNvSpPr>
          <p:nvPr>
            <p:ph type="ctrTitle"/>
          </p:nvPr>
        </p:nvSpPr>
        <p:spPr>
          <a:xfrm>
            <a:off x="173181" y="1141413"/>
            <a:ext cx="4023360" cy="3204134"/>
          </a:xfrm>
        </p:spPr>
        <p:txBody>
          <a:bodyPr anchor="b">
            <a:normAutofit/>
          </a:bodyPr>
          <a:lstStyle/>
          <a:p>
            <a:r>
              <a:rPr lang="en-US" sz="4800" dirty="0"/>
              <a:t>SonarQube </a:t>
            </a:r>
          </a:p>
        </p:txBody>
      </p:sp>
      <p:sp>
        <p:nvSpPr>
          <p:cNvPr id="5" name="TextBox 4">
            <a:extLst>
              <a:ext uri="{FF2B5EF4-FFF2-40B4-BE49-F238E27FC236}">
                <a16:creationId xmlns:a16="http://schemas.microsoft.com/office/drawing/2014/main" id="{8AACF44E-0500-A4E2-DCEA-B4C6E7281729}"/>
              </a:ext>
            </a:extLst>
          </p:cNvPr>
          <p:cNvSpPr txBox="1"/>
          <p:nvPr/>
        </p:nvSpPr>
        <p:spPr>
          <a:xfrm>
            <a:off x="0" y="4495801"/>
            <a:ext cx="4972050" cy="369332"/>
          </a:xfrm>
          <a:prstGeom prst="rect">
            <a:avLst/>
          </a:prstGeom>
          <a:noFill/>
        </p:spPr>
        <p:txBody>
          <a:bodyPr wrap="square" rtlCol="0">
            <a:spAutoFit/>
          </a:bodyPr>
          <a:lstStyle/>
          <a:p>
            <a:r>
              <a:rPr lang="en-US" dirty="0"/>
              <a:t>Static Application Security Testing</a:t>
            </a:r>
          </a:p>
        </p:txBody>
      </p:sp>
    </p:spTree>
    <p:extLst>
      <p:ext uri="{BB962C8B-B14F-4D97-AF65-F5344CB8AC3E}">
        <p14:creationId xmlns:p14="http://schemas.microsoft.com/office/powerpoint/2010/main" val="1346330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D5A5B-682B-99DC-E621-D2FE65B443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E209FD-7903-9C72-D570-759A6F202A84}"/>
              </a:ext>
            </a:extLst>
          </p:cNvPr>
          <p:cNvSpPr txBox="1"/>
          <p:nvPr/>
        </p:nvSpPr>
        <p:spPr>
          <a:xfrm>
            <a:off x="3048762" y="373118"/>
            <a:ext cx="6094476" cy="461665"/>
          </a:xfrm>
          <a:prstGeom prst="rect">
            <a:avLst/>
          </a:prstGeom>
          <a:noFill/>
        </p:spPr>
        <p:txBody>
          <a:bodyPr wrap="square">
            <a:spAutoFit/>
          </a:bodyPr>
          <a:lstStyle/>
          <a:p>
            <a:pPr algn="ctr"/>
            <a:r>
              <a:rPr lang="en-US" sz="2400" b="1" dirty="0"/>
              <a:t>SonarQube</a:t>
            </a:r>
          </a:p>
        </p:txBody>
      </p:sp>
      <p:sp>
        <p:nvSpPr>
          <p:cNvPr id="4" name="TextBox 3">
            <a:extLst>
              <a:ext uri="{FF2B5EF4-FFF2-40B4-BE49-F238E27FC236}">
                <a16:creationId xmlns:a16="http://schemas.microsoft.com/office/drawing/2014/main" id="{07E3910A-4EA1-DC5F-92C6-D5ADCC2BF0C8}"/>
              </a:ext>
            </a:extLst>
          </p:cNvPr>
          <p:cNvSpPr txBox="1"/>
          <p:nvPr/>
        </p:nvSpPr>
        <p:spPr>
          <a:xfrm>
            <a:off x="270760" y="1081671"/>
            <a:ext cx="11217402" cy="5940088"/>
          </a:xfrm>
          <a:prstGeom prst="rect">
            <a:avLst/>
          </a:prstGeom>
          <a:noFill/>
        </p:spPr>
        <p:txBody>
          <a:bodyPr wrap="square">
            <a:spAutoFit/>
          </a:bodyPr>
          <a:lstStyle/>
          <a:p>
            <a:r>
              <a:rPr lang="en-US" sz="2000" b="1" dirty="0"/>
              <a:t>SonarQube is an open-source platform developed by </a:t>
            </a:r>
            <a:r>
              <a:rPr lang="en-US" sz="2000" b="1" dirty="0" err="1"/>
              <a:t>SonarSource</a:t>
            </a:r>
            <a:r>
              <a:rPr lang="en-US" sz="2000" b="1" dirty="0"/>
              <a:t> for continuous inspection of code quality to perform automatic reviews with static analysis of code.</a:t>
            </a:r>
          </a:p>
          <a:p>
            <a:endParaRPr lang="en-US" sz="2000" dirty="0"/>
          </a:p>
          <a:p>
            <a:r>
              <a:rPr lang="en-US" sz="2000" b="1" dirty="0"/>
              <a:t>Why?</a:t>
            </a:r>
            <a:endParaRPr lang="en-US" sz="2000" dirty="0"/>
          </a:p>
          <a:p>
            <a:pPr marL="342900" indent="-342900">
              <a:buFont typeface="Arial" panose="020B0604020202020204" pitchFamily="34" charset="0"/>
              <a:buChar char="•"/>
            </a:pPr>
            <a:r>
              <a:rPr lang="en-US" sz="2000" dirty="0"/>
              <a:t>It helps in detecting areas in the code that needs refactoring or simplification</a:t>
            </a:r>
          </a:p>
          <a:p>
            <a:pPr marL="342900" indent="-342900">
              <a:buFont typeface="Arial" panose="020B0604020202020204" pitchFamily="34" charset="0"/>
              <a:buChar char="•"/>
            </a:pPr>
            <a:r>
              <a:rPr lang="en-US" sz="2000" dirty="0"/>
              <a:t>It can help to find the bug early in the development cycle, which means less cost to fix them</a:t>
            </a:r>
          </a:p>
          <a:p>
            <a:pPr marL="342900" indent="-342900">
              <a:buFont typeface="Arial" panose="020B0604020202020204" pitchFamily="34" charset="0"/>
              <a:buChar char="•"/>
            </a:pPr>
            <a:r>
              <a:rPr lang="en-US" sz="2000" dirty="0"/>
              <a:t>We can define project-specific rules which will then be implemented without manual intervention</a:t>
            </a:r>
          </a:p>
          <a:p>
            <a:r>
              <a:rPr lang="en-US" sz="2000" b="1" dirty="0"/>
              <a:t>What?</a:t>
            </a:r>
            <a:endParaRPr lang="en-US" sz="2000" dirty="0"/>
          </a:p>
          <a:p>
            <a:pPr marL="342900" indent="-342900">
              <a:buFont typeface="Arial" panose="020B0604020202020204" pitchFamily="34" charset="0"/>
              <a:buChar char="•"/>
            </a:pPr>
            <a:r>
              <a:rPr lang="en-US" sz="2000" dirty="0"/>
              <a:t>Simply having visibility into code is not enough and in order to address the issues flagged by code analysis, we need to make use of different data insights that we get from SonarQube</a:t>
            </a:r>
          </a:p>
          <a:p>
            <a:endParaRPr lang="en-US" sz="2000" dirty="0"/>
          </a:p>
          <a:p>
            <a:r>
              <a:rPr lang="en-US" sz="2000" b="1" dirty="0"/>
              <a:t>How?</a:t>
            </a:r>
            <a:r>
              <a:rPr lang="en-US" sz="2000" dirty="0"/>
              <a:t> </a:t>
            </a:r>
          </a:p>
          <a:p>
            <a:r>
              <a:rPr lang="en-US" sz="2000" b="1" dirty="0"/>
              <a:t>Quality Gates</a:t>
            </a:r>
            <a:endParaRPr lang="en-US" sz="2000" dirty="0"/>
          </a:p>
          <a:p>
            <a:pPr marL="342900" indent="-342900">
              <a:buFont typeface="Arial" panose="020B0604020202020204" pitchFamily="34" charset="0"/>
              <a:buChar char="•"/>
            </a:pPr>
            <a:r>
              <a:rPr lang="en-US" sz="2000" dirty="0"/>
              <a:t>Best way to ensure that standards are met and regulated in projects</a:t>
            </a:r>
          </a:p>
          <a:p>
            <a:pPr marL="342900" indent="-342900">
              <a:buFont typeface="Arial" panose="020B0604020202020204" pitchFamily="34" charset="0"/>
              <a:buChar char="•"/>
            </a:pPr>
            <a:r>
              <a:rPr lang="en-US" sz="2000" dirty="0"/>
              <a:t>Can be defined as a set of threshold measures set on your project</a:t>
            </a:r>
          </a:p>
          <a:p>
            <a:endParaRPr lang="en-US" sz="2000" dirty="0"/>
          </a:p>
          <a:p>
            <a:endParaRPr lang="en-US" sz="2000" dirty="0"/>
          </a:p>
        </p:txBody>
      </p:sp>
    </p:spTree>
    <p:extLst>
      <p:ext uri="{BB962C8B-B14F-4D97-AF65-F5344CB8AC3E}">
        <p14:creationId xmlns:p14="http://schemas.microsoft.com/office/powerpoint/2010/main" val="1900951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90607-CC72-E6B6-8630-CDA12E1A7069}"/>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5462EEF7-6B9E-16B0-147E-3B545A330677}"/>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F45D9614-D40A-B9C1-7049-F5B6603DDECC}"/>
              </a:ext>
            </a:extLst>
          </p:cNvPr>
          <p:cNvSpPr>
            <a:spLocks noGrp="1"/>
          </p:cNvSpPr>
          <p:nvPr>
            <p:ph type="ctrTitle"/>
          </p:nvPr>
        </p:nvSpPr>
        <p:spPr>
          <a:xfrm>
            <a:off x="173181" y="1141412"/>
            <a:ext cx="3164379" cy="3238563"/>
          </a:xfrm>
        </p:spPr>
        <p:txBody>
          <a:bodyPr anchor="b">
            <a:normAutofit/>
          </a:bodyPr>
          <a:lstStyle/>
          <a:p>
            <a:r>
              <a:rPr lang="en-US" sz="4800" dirty="0"/>
              <a:t>Azure Artifact </a:t>
            </a:r>
          </a:p>
        </p:txBody>
      </p:sp>
    </p:spTree>
    <p:extLst>
      <p:ext uri="{BB962C8B-B14F-4D97-AF65-F5344CB8AC3E}">
        <p14:creationId xmlns:p14="http://schemas.microsoft.com/office/powerpoint/2010/main" val="11618358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6F07-3073-28A2-8529-F75B55CCC5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013B2D-7CE6-DAE4-7223-6BAB711E5290}"/>
              </a:ext>
            </a:extLst>
          </p:cNvPr>
          <p:cNvSpPr txBox="1"/>
          <p:nvPr/>
        </p:nvSpPr>
        <p:spPr>
          <a:xfrm>
            <a:off x="3048762" y="373118"/>
            <a:ext cx="6094476" cy="461665"/>
          </a:xfrm>
          <a:prstGeom prst="rect">
            <a:avLst/>
          </a:prstGeom>
          <a:noFill/>
        </p:spPr>
        <p:txBody>
          <a:bodyPr wrap="square">
            <a:spAutoFit/>
          </a:bodyPr>
          <a:lstStyle/>
          <a:p>
            <a:pPr algn="ctr"/>
            <a:r>
              <a:rPr lang="en-US" sz="2400" b="1" dirty="0"/>
              <a:t>Artifact</a:t>
            </a:r>
          </a:p>
        </p:txBody>
      </p:sp>
      <p:sp>
        <p:nvSpPr>
          <p:cNvPr id="4" name="TextBox 3">
            <a:extLst>
              <a:ext uri="{FF2B5EF4-FFF2-40B4-BE49-F238E27FC236}">
                <a16:creationId xmlns:a16="http://schemas.microsoft.com/office/drawing/2014/main" id="{FFAC2C98-3302-A796-BB25-C1A7B1E0912B}"/>
              </a:ext>
            </a:extLst>
          </p:cNvPr>
          <p:cNvSpPr txBox="1"/>
          <p:nvPr/>
        </p:nvSpPr>
        <p:spPr>
          <a:xfrm>
            <a:off x="487299" y="1043731"/>
            <a:ext cx="11217402" cy="4770537"/>
          </a:xfrm>
          <a:prstGeom prst="rect">
            <a:avLst/>
          </a:prstGeom>
          <a:noFill/>
        </p:spPr>
        <p:txBody>
          <a:bodyPr wrap="square">
            <a:spAutoFit/>
          </a:bodyPr>
          <a:lstStyle/>
          <a:p>
            <a:r>
              <a:rPr lang="en-US" sz="1600" dirty="0"/>
              <a:t>Azure Artifacts is an extension that makes it easy to discover, install, and publish </a:t>
            </a:r>
            <a:r>
              <a:rPr lang="en-US" sz="1600" b="1" dirty="0"/>
              <a:t>NuGet, </a:t>
            </a:r>
            <a:r>
              <a:rPr lang="en-US" sz="1600" b="1" dirty="0" err="1"/>
              <a:t>npm</a:t>
            </a:r>
            <a:r>
              <a:rPr lang="en-US" sz="1600" dirty="0"/>
              <a:t>, and </a:t>
            </a:r>
            <a:r>
              <a:rPr lang="en-US" sz="1600" b="1" dirty="0"/>
              <a:t>Maven</a:t>
            </a:r>
            <a:r>
              <a:rPr lang="en-US" sz="1600" dirty="0"/>
              <a:t> packages in Azure DevOps. It’s deeply integrated with other hubs like Build so that package management can become a seamless part of your existing workflows.</a:t>
            </a:r>
          </a:p>
          <a:p>
            <a:endParaRPr lang="en-US" sz="1600" dirty="0"/>
          </a:p>
          <a:p>
            <a:r>
              <a:rPr lang="en-US" sz="1600" dirty="0"/>
              <a:t> </a:t>
            </a:r>
            <a:r>
              <a:rPr lang="en-US" sz="1600" b="1" dirty="0"/>
              <a:t>Keep your artifacts organized</a:t>
            </a:r>
            <a:r>
              <a:rPr lang="en-US" sz="1600" dirty="0"/>
              <a:t>:</a:t>
            </a:r>
          </a:p>
          <a:p>
            <a:r>
              <a:rPr lang="en-US" sz="1600" dirty="0"/>
              <a:t>    Share code effortlessly by storing Maven, </a:t>
            </a:r>
            <a:r>
              <a:rPr lang="en-US" sz="1600" dirty="0" err="1"/>
              <a:t>npm</a:t>
            </a:r>
            <a:r>
              <a:rPr lang="en-US" sz="1600" dirty="0"/>
              <a:t>, NuGet and Python packages together</a:t>
            </a:r>
          </a:p>
          <a:p>
            <a:endParaRPr lang="en-US" sz="1600" dirty="0"/>
          </a:p>
          <a:p>
            <a:r>
              <a:rPr lang="en-US" sz="1600" b="1" dirty="0"/>
              <a:t>Protect your packages</a:t>
            </a:r>
            <a:r>
              <a:rPr lang="en-US" sz="1600" dirty="0"/>
              <a:t>:</a:t>
            </a:r>
          </a:p>
          <a:p>
            <a:r>
              <a:rPr lang="en-US" sz="1600" dirty="0"/>
              <a:t>    Keep every public source package you use—including packages from </a:t>
            </a:r>
            <a:r>
              <a:rPr lang="en-US" sz="1600" dirty="0" err="1"/>
              <a:t>npmjs</a:t>
            </a:r>
            <a:r>
              <a:rPr lang="en-US" sz="1600" dirty="0"/>
              <a:t> and NuGet.org—safe in your feed where only you can delete it and where it is backed by the enterprise-grade Azure SLA.</a:t>
            </a:r>
          </a:p>
          <a:p>
            <a:endParaRPr lang="en-US" sz="1600" dirty="0"/>
          </a:p>
          <a:p>
            <a:r>
              <a:rPr lang="en-US" sz="1600" b="1" dirty="0"/>
              <a:t>Integrate seamless package handling into your CI/CD pipeline</a:t>
            </a:r>
            <a:r>
              <a:rPr lang="en-US" sz="1600" dirty="0"/>
              <a:t>:</a:t>
            </a:r>
          </a:p>
          <a:p>
            <a:r>
              <a:rPr lang="en-US" sz="1600" dirty="0"/>
              <a:t>    Easily access all your artifacts in builds and releases—Artifacts integrate natively with the Azure Pipelines CI/CD tool.</a:t>
            </a:r>
          </a:p>
          <a:p>
            <a:endParaRPr lang="en-US" sz="1600" dirty="0"/>
          </a:p>
          <a:p>
            <a:pPr lvl="1"/>
            <a:r>
              <a:rPr lang="en-US" sz="1600" dirty="0"/>
              <a:t># Using Azure Artifacts one can create, host, and share packages with teams  </a:t>
            </a:r>
          </a:p>
          <a:p>
            <a:pPr lvl="1"/>
            <a:r>
              <a:rPr lang="en-US" sz="1600" dirty="0"/>
              <a:t># We can share code across teams, and manage all package types like Maven, </a:t>
            </a:r>
            <a:r>
              <a:rPr lang="en-US" sz="1600" dirty="0" err="1"/>
              <a:t>npm</a:t>
            </a:r>
            <a:r>
              <a:rPr lang="en-US" sz="1600" dirty="0"/>
              <a:t>, Gradle, NuGet, </a:t>
            </a:r>
            <a:r>
              <a:rPr lang="en-US" sz="1600" dirty="0" err="1"/>
              <a:t>etc</a:t>
            </a:r>
            <a:endParaRPr lang="en-US" sz="1600" dirty="0"/>
          </a:p>
          <a:p>
            <a:pPr lvl="1"/>
            <a:endParaRPr lang="en-US" sz="1600" dirty="0"/>
          </a:p>
          <a:p>
            <a:endParaRPr lang="en-US" sz="1600" dirty="0"/>
          </a:p>
          <a:p>
            <a:endParaRPr lang="en-US" sz="1600" dirty="0"/>
          </a:p>
        </p:txBody>
      </p:sp>
      <p:sp>
        <p:nvSpPr>
          <p:cNvPr id="5" name="TextBox 4">
            <a:extLst>
              <a:ext uri="{FF2B5EF4-FFF2-40B4-BE49-F238E27FC236}">
                <a16:creationId xmlns:a16="http://schemas.microsoft.com/office/drawing/2014/main" id="{D61048F5-8580-2405-4AC0-6B17A26769FC}"/>
              </a:ext>
            </a:extLst>
          </p:cNvPr>
          <p:cNvSpPr txBox="1"/>
          <p:nvPr/>
        </p:nvSpPr>
        <p:spPr>
          <a:xfrm>
            <a:off x="365760" y="356616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911782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AC3A2-1D1E-B5DF-6DA7-43492B85CD67}"/>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F2012E6A-4F97-ADD9-8C3C-9EF4F8D731E3}"/>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F7543783-417C-46C2-6ED6-3B949A5643A9}"/>
              </a:ext>
            </a:extLst>
          </p:cNvPr>
          <p:cNvSpPr>
            <a:spLocks noGrp="1"/>
          </p:cNvSpPr>
          <p:nvPr>
            <p:ph type="ctrTitle"/>
          </p:nvPr>
        </p:nvSpPr>
        <p:spPr>
          <a:xfrm>
            <a:off x="173181" y="1141412"/>
            <a:ext cx="3164379" cy="3238563"/>
          </a:xfrm>
        </p:spPr>
        <p:txBody>
          <a:bodyPr anchor="b">
            <a:normAutofit/>
          </a:bodyPr>
          <a:lstStyle/>
          <a:p>
            <a:r>
              <a:rPr lang="en-US" sz="4800" dirty="0"/>
              <a:t>Terraform</a:t>
            </a:r>
          </a:p>
        </p:txBody>
      </p:sp>
    </p:spTree>
    <p:extLst>
      <p:ext uri="{BB962C8B-B14F-4D97-AF65-F5344CB8AC3E}">
        <p14:creationId xmlns:p14="http://schemas.microsoft.com/office/powerpoint/2010/main" val="1032803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5A4094-E4C8-5961-6F62-EA07B1A04EF7}"/>
            </a:ext>
          </a:extLst>
        </p:cNvPr>
        <p:cNvGrpSpPr/>
        <p:nvPr/>
      </p:nvGrpSpPr>
      <p:grpSpPr>
        <a:xfrm>
          <a:off x="0" y="0"/>
          <a:ext cx="0" cy="0"/>
          <a:chOff x="0" y="0"/>
          <a:chExt cx="0" cy="0"/>
        </a:xfrm>
      </p:grpSpPr>
      <p:sp useBgFill="1">
        <p:nvSpPr>
          <p:cNvPr id="2094" name="Rectangle 2093">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96" name="Rectangle 2095">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8" name="Rectangle 2097">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00" name="Rectangle 2099">
            <a:extLst>
              <a:ext uri="{FF2B5EF4-FFF2-40B4-BE49-F238E27FC236}">
                <a16:creationId xmlns:a16="http://schemas.microsoft.com/office/drawing/2014/main" id="{D1A4588A-55D5-49B8-BE41-54ACDCFF2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3" name="Picture 5" descr="What Is Terraform And Why Is It Needed? | by Troy Ingram | Nerd For Tech |  Medium">
            <a:extLst>
              <a:ext uri="{FF2B5EF4-FFF2-40B4-BE49-F238E27FC236}">
                <a16:creationId xmlns:a16="http://schemas.microsoft.com/office/drawing/2014/main" id="{F14419EF-D668-5954-9674-33CA88BA28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39" r="1" b="1"/>
          <a:stretch>
            <a:fillRect/>
          </a:stretch>
        </p:blipFill>
        <p:spPr bwMode="auto">
          <a:xfrm>
            <a:off x="20" y="10"/>
            <a:ext cx="12191980" cy="4465973"/>
          </a:xfrm>
          <a:prstGeom prst="rect">
            <a:avLst/>
          </a:prstGeom>
          <a:noFill/>
          <a:extLst>
            <a:ext uri="{909E8E84-426E-40DD-AFC4-6F175D3DCCD1}">
              <a14:hiddenFill xmlns:a14="http://schemas.microsoft.com/office/drawing/2010/main">
                <a:solidFill>
                  <a:srgbClr val="FFFFFF"/>
                </a:solidFill>
              </a14:hiddenFill>
            </a:ext>
          </a:extLst>
        </p:spPr>
      </p:pic>
      <p:sp>
        <p:nvSpPr>
          <p:cNvPr id="2102" name="Rectangle: Rounded Corners 2101">
            <a:extLst>
              <a:ext uri="{FF2B5EF4-FFF2-40B4-BE49-F238E27FC236}">
                <a16:creationId xmlns:a16="http://schemas.microsoft.com/office/drawing/2014/main" id="{F97E7EA2-EDCD-47E9-81BC-415C606D1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19552"/>
            <a:ext cx="9382538" cy="685800"/>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EA3D0C-8A7B-75A9-6501-94EAD3447797}"/>
              </a:ext>
            </a:extLst>
          </p:cNvPr>
          <p:cNvSpPr txBox="1"/>
          <p:nvPr/>
        </p:nvSpPr>
        <p:spPr>
          <a:xfrm>
            <a:off x="566928" y="4203278"/>
            <a:ext cx="8557193" cy="5360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a:solidFill>
                  <a:schemeClr val="bg1"/>
                </a:solidFill>
                <a:latin typeface="+mj-lt"/>
                <a:ea typeface="+mj-ea"/>
                <a:cs typeface="+mj-cs"/>
              </a:rPr>
              <a:t>Introduction</a:t>
            </a:r>
          </a:p>
        </p:txBody>
      </p:sp>
      <p:sp>
        <p:nvSpPr>
          <p:cNvPr id="7" name="TextBox 6">
            <a:extLst>
              <a:ext uri="{FF2B5EF4-FFF2-40B4-BE49-F238E27FC236}">
                <a16:creationId xmlns:a16="http://schemas.microsoft.com/office/drawing/2014/main" id="{12EDCC88-6039-5A05-0BEB-4EC8C4848663}"/>
              </a:ext>
            </a:extLst>
          </p:cNvPr>
          <p:cNvSpPr txBox="1"/>
          <p:nvPr/>
        </p:nvSpPr>
        <p:spPr>
          <a:xfrm>
            <a:off x="192174" y="4947851"/>
            <a:ext cx="11725006" cy="1910139"/>
          </a:xfrm>
          <a:prstGeom prst="rect">
            <a:avLst/>
          </a:prstGeom>
        </p:spPr>
        <p:txBody>
          <a:bodyPr vert="horz" lIns="91440" tIns="45720" rIns="91440" bIns="45720" rtlCol="0">
            <a:normAutofit fontScale="92500" lnSpcReduction="10000"/>
          </a:bodyPr>
          <a:lstStyle/>
          <a:p>
            <a:pPr marL="285750" indent="-228600">
              <a:spcAft>
                <a:spcPts val="600"/>
              </a:spcAft>
              <a:buFont typeface="Arial" panose="020B0604020202020204" pitchFamily="34" charset="0"/>
              <a:buChar char="•"/>
            </a:pPr>
            <a:r>
              <a:rPr lang="en-US" sz="1600" b="1" dirty="0" err="1"/>
              <a:t>HashiCorp</a:t>
            </a:r>
            <a:r>
              <a:rPr lang="en-US" sz="1600" b="1" dirty="0"/>
              <a:t> Terraform is an infrastructure as code tool that lets you define both cloud and on-prem resources in human-readable configuration files that you can version, reuse, and share.</a:t>
            </a:r>
          </a:p>
          <a:p>
            <a:pPr marL="285750" indent="-228600">
              <a:spcAft>
                <a:spcPts val="600"/>
              </a:spcAft>
              <a:buFont typeface="Arial" panose="020B0604020202020204" pitchFamily="34" charset="0"/>
              <a:buChar char="•"/>
            </a:pPr>
            <a:endParaRPr lang="en-US" sz="1600" b="1" dirty="0"/>
          </a:p>
          <a:p>
            <a:pPr marL="285750" indent="-228600">
              <a:spcAft>
                <a:spcPts val="600"/>
              </a:spcAft>
              <a:buFont typeface="Arial" panose="020B0604020202020204" pitchFamily="34" charset="0"/>
              <a:buChar char="•"/>
            </a:pPr>
            <a:r>
              <a:rPr lang="en-US" sz="1600" b="1" dirty="0"/>
              <a:t>Through Terraform work-flow we can easily provision and manage all of your infrastructures throughout its lifecycle.</a:t>
            </a:r>
          </a:p>
          <a:p>
            <a:pPr marL="285750" indent="-228600">
              <a:spcAft>
                <a:spcPts val="600"/>
              </a:spcAft>
              <a:buFont typeface="Arial" panose="020B0604020202020204" pitchFamily="34" charset="0"/>
              <a:buChar char="•"/>
            </a:pPr>
            <a:endParaRPr lang="en-US" sz="1600" b="1" dirty="0"/>
          </a:p>
          <a:p>
            <a:pPr marL="285750" indent="-228600">
              <a:spcAft>
                <a:spcPts val="600"/>
              </a:spcAft>
              <a:buFont typeface="Arial" panose="020B0604020202020204" pitchFamily="34" charset="0"/>
              <a:buChar char="•"/>
            </a:pPr>
            <a:r>
              <a:rPr lang="en-US" sz="1600" b="1" dirty="0"/>
              <a:t>Through Terraform we can manage low-level components like compute, storage, and networking resources, as well as high-level components like DNS entries and SaaS features.</a:t>
            </a:r>
          </a:p>
        </p:txBody>
      </p:sp>
      <p:sp>
        <p:nvSpPr>
          <p:cNvPr id="4" name="TextBox 3">
            <a:extLst>
              <a:ext uri="{FF2B5EF4-FFF2-40B4-BE49-F238E27FC236}">
                <a16:creationId xmlns:a16="http://schemas.microsoft.com/office/drawing/2014/main" id="{52133862-69BD-82E0-D4CF-600F83A99D6E}"/>
              </a:ext>
            </a:extLst>
          </p:cNvPr>
          <p:cNvSpPr txBox="1"/>
          <p:nvPr/>
        </p:nvSpPr>
        <p:spPr>
          <a:xfrm>
            <a:off x="533231" y="481878"/>
            <a:ext cx="11217402" cy="984885"/>
          </a:xfrm>
          <a:prstGeom prst="rect">
            <a:avLst/>
          </a:prstGeom>
          <a:noFill/>
        </p:spPr>
        <p:txBody>
          <a:bodyPr wrap="square">
            <a:spAutoFit/>
          </a:bodyPr>
          <a:lstStyle/>
          <a:p>
            <a:pPr>
              <a:spcAft>
                <a:spcPts val="600"/>
              </a:spcAft>
            </a:pPr>
            <a:endParaRPr lang="en-US" sz="1600"/>
          </a:p>
          <a:p>
            <a:pPr>
              <a:spcAft>
                <a:spcPts val="600"/>
              </a:spcAft>
            </a:pPr>
            <a:endParaRPr lang="en-US" sz="1600"/>
          </a:p>
          <a:p>
            <a:pPr>
              <a:spcAft>
                <a:spcPts val="600"/>
              </a:spcAft>
            </a:pPr>
            <a:endParaRPr lang="en-US" sz="1600"/>
          </a:p>
        </p:txBody>
      </p:sp>
      <p:sp>
        <p:nvSpPr>
          <p:cNvPr id="5" name="TextBox 4">
            <a:extLst>
              <a:ext uri="{FF2B5EF4-FFF2-40B4-BE49-F238E27FC236}">
                <a16:creationId xmlns:a16="http://schemas.microsoft.com/office/drawing/2014/main" id="{BE4B9D75-7616-0A44-980C-AA041707661E}"/>
              </a:ext>
            </a:extLst>
          </p:cNvPr>
          <p:cNvSpPr txBox="1"/>
          <p:nvPr/>
        </p:nvSpPr>
        <p:spPr>
          <a:xfrm>
            <a:off x="365760" y="356616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6080039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1F5B7-3D72-5838-E158-A8C891B2258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E02E19-F607-1CCC-5AC1-7645946A9E03}"/>
              </a:ext>
            </a:extLst>
          </p:cNvPr>
          <p:cNvSpPr txBox="1"/>
          <p:nvPr/>
        </p:nvSpPr>
        <p:spPr>
          <a:xfrm>
            <a:off x="3048762" y="373118"/>
            <a:ext cx="6094476" cy="461665"/>
          </a:xfrm>
          <a:prstGeom prst="rect">
            <a:avLst/>
          </a:prstGeom>
          <a:noFill/>
        </p:spPr>
        <p:txBody>
          <a:bodyPr wrap="square">
            <a:spAutoFit/>
          </a:bodyPr>
          <a:lstStyle/>
          <a:p>
            <a:pPr algn="ctr"/>
            <a:r>
              <a:rPr lang="en-US" sz="2400" b="1" dirty="0"/>
              <a:t>Traditional Way</a:t>
            </a:r>
          </a:p>
        </p:txBody>
      </p:sp>
      <p:sp>
        <p:nvSpPr>
          <p:cNvPr id="5" name="TextBox 4">
            <a:extLst>
              <a:ext uri="{FF2B5EF4-FFF2-40B4-BE49-F238E27FC236}">
                <a16:creationId xmlns:a16="http://schemas.microsoft.com/office/drawing/2014/main" id="{D5224DC2-D545-7144-82A1-2188B74DBCB9}"/>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0F11CF1F-6953-2394-5EAC-4F3A45FADE6F}"/>
              </a:ext>
            </a:extLst>
          </p:cNvPr>
          <p:cNvSpPr txBox="1"/>
          <p:nvPr/>
        </p:nvSpPr>
        <p:spPr>
          <a:xfrm>
            <a:off x="550491" y="1048002"/>
            <a:ext cx="11641509" cy="4543873"/>
          </a:xfrm>
          <a:prstGeom prst="rect">
            <a:avLst/>
          </a:prstGeom>
          <a:noFill/>
        </p:spPr>
        <p:txBody>
          <a:bodyPr wrap="square">
            <a:spAutoFit/>
          </a:bodyPr>
          <a:lstStyle/>
          <a:p>
            <a:pPr>
              <a:buNone/>
            </a:pPr>
            <a:r>
              <a:rPr lang="en-US" sz="2800" b="1" dirty="0"/>
              <a:t>Infrastructure as Code:</a:t>
            </a:r>
            <a:endParaRPr lang="en-US" sz="2800" dirty="0"/>
          </a:p>
          <a:p>
            <a:pPr>
              <a:buFont typeface="Arial" panose="020B0604020202020204" pitchFamily="34" charset="0"/>
              <a:buChar char="•"/>
            </a:pPr>
            <a:r>
              <a:rPr lang="en-US" sz="2800" dirty="0"/>
              <a:t>Infrastructure as code (</a:t>
            </a:r>
            <a:r>
              <a:rPr lang="en-US" sz="2800" dirty="0" err="1"/>
              <a:t>IaC</a:t>
            </a:r>
            <a:r>
              <a:rPr lang="en-US" sz="2800" dirty="0"/>
              <a:t>) means managing your IT infrastructure using configuration files.</a:t>
            </a:r>
          </a:p>
          <a:p>
            <a:pPr>
              <a:buNone/>
            </a:pPr>
            <a:r>
              <a:rPr lang="en-US" sz="2800" b="1" dirty="0"/>
              <a:t>Benefits:</a:t>
            </a:r>
            <a:endParaRPr lang="en-US" sz="2800" dirty="0"/>
          </a:p>
          <a:p>
            <a:pPr>
              <a:buFont typeface="Arial" panose="020B0604020202020204" pitchFamily="34" charset="0"/>
              <a:buChar char="•"/>
            </a:pPr>
            <a:r>
              <a:rPr lang="en-US" sz="2800" dirty="0"/>
              <a:t>Cost reduction</a:t>
            </a:r>
          </a:p>
          <a:p>
            <a:pPr>
              <a:buFont typeface="Arial" panose="020B0604020202020204" pitchFamily="34" charset="0"/>
              <a:buChar char="•"/>
            </a:pPr>
            <a:r>
              <a:rPr lang="en-US" sz="2800" dirty="0"/>
              <a:t>Increase in speed of deployments</a:t>
            </a:r>
          </a:p>
          <a:p>
            <a:pPr>
              <a:buFont typeface="Arial" panose="020B0604020202020204" pitchFamily="34" charset="0"/>
              <a:buChar char="•"/>
            </a:pPr>
            <a:r>
              <a:rPr lang="en-US" sz="2800" dirty="0"/>
              <a:t>Reduce errors</a:t>
            </a:r>
          </a:p>
          <a:p>
            <a:pPr>
              <a:buFont typeface="Arial" panose="020B0604020202020204" pitchFamily="34" charset="0"/>
              <a:buChar char="•"/>
            </a:pPr>
            <a:r>
              <a:rPr lang="en-US" sz="2800" dirty="0"/>
              <a:t>Improve infrastructure consistency</a:t>
            </a:r>
          </a:p>
          <a:p>
            <a:pPr>
              <a:buFont typeface="Arial" panose="020B0604020202020204" pitchFamily="34" charset="0"/>
              <a:buChar char="•"/>
            </a:pPr>
            <a:r>
              <a:rPr lang="en-US" sz="2800" dirty="0"/>
              <a:t>Eliminate configuration drift</a:t>
            </a:r>
          </a:p>
          <a:p>
            <a:pPr>
              <a:lnSpc>
                <a:spcPct val="150000"/>
              </a:lnSpc>
            </a:pPr>
            <a:endParaRPr lang="en-US" sz="2800" dirty="0"/>
          </a:p>
        </p:txBody>
      </p:sp>
    </p:spTree>
    <p:extLst>
      <p:ext uri="{BB962C8B-B14F-4D97-AF65-F5344CB8AC3E}">
        <p14:creationId xmlns:p14="http://schemas.microsoft.com/office/powerpoint/2010/main" val="2278931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6" name="Picture 6" descr="Terraform Command Basics - STACKSIMPLIFY">
            <a:extLst>
              <a:ext uri="{FF2B5EF4-FFF2-40B4-BE49-F238E27FC236}">
                <a16:creationId xmlns:a16="http://schemas.microsoft.com/office/drawing/2014/main" id="{2FB26518-17F6-8588-F582-DCDEA5F18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531" y="620546"/>
            <a:ext cx="10762938" cy="5616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29083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9530A-BEC7-9124-A5F3-0C460C1DC6CA}"/>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C21184C2-CAF4-3F73-DD8E-FAB6DE7A255C}"/>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16F64543-D741-10D1-035B-0462529A6A07}"/>
              </a:ext>
            </a:extLst>
          </p:cNvPr>
          <p:cNvSpPr>
            <a:spLocks noGrp="1"/>
          </p:cNvSpPr>
          <p:nvPr>
            <p:ph type="ctrTitle"/>
          </p:nvPr>
        </p:nvSpPr>
        <p:spPr>
          <a:xfrm>
            <a:off x="772788" y="1171392"/>
            <a:ext cx="3164379" cy="3238563"/>
          </a:xfrm>
        </p:spPr>
        <p:txBody>
          <a:bodyPr anchor="b">
            <a:normAutofit/>
          </a:bodyPr>
          <a:lstStyle/>
          <a:p>
            <a:r>
              <a:rPr lang="en-US" sz="4800" dirty="0"/>
              <a:t>Ansible</a:t>
            </a:r>
          </a:p>
        </p:txBody>
      </p:sp>
    </p:spTree>
    <p:extLst>
      <p:ext uri="{BB962C8B-B14F-4D97-AF65-F5344CB8AC3E}">
        <p14:creationId xmlns:p14="http://schemas.microsoft.com/office/powerpoint/2010/main" val="1365909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D1B11-6D47-2CEF-DF7B-26933E4C0B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D3A6A5-FB08-68AC-CDF7-1C6BDCE2BC68}"/>
              </a:ext>
            </a:extLst>
          </p:cNvPr>
          <p:cNvSpPr txBox="1"/>
          <p:nvPr/>
        </p:nvSpPr>
        <p:spPr>
          <a:xfrm>
            <a:off x="365760" y="3566160"/>
            <a:ext cx="184731" cy="369332"/>
          </a:xfrm>
          <a:prstGeom prst="rect">
            <a:avLst/>
          </a:prstGeom>
          <a:noFill/>
        </p:spPr>
        <p:txBody>
          <a:bodyPr wrap="none" rtlCol="0">
            <a:spAutoFit/>
          </a:bodyPr>
          <a:lstStyle/>
          <a:p>
            <a:endParaRPr lang="en-US" dirty="0"/>
          </a:p>
        </p:txBody>
      </p:sp>
      <p:pic>
        <p:nvPicPr>
          <p:cNvPr id="1028" name="Picture 4" descr="What's this Ansible?">
            <a:extLst>
              <a:ext uri="{FF2B5EF4-FFF2-40B4-BE49-F238E27FC236}">
                <a16:creationId xmlns:a16="http://schemas.microsoft.com/office/drawing/2014/main" id="{6B97AAC4-9303-C982-D6B6-B01D32496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8430" y="658129"/>
            <a:ext cx="7129930" cy="5816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0208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D0B45-6C0D-FA23-5EDF-6CF9361F09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A51829-4023-60C9-3458-26618C17B25C}"/>
              </a:ext>
            </a:extLst>
          </p:cNvPr>
          <p:cNvSpPr txBox="1"/>
          <p:nvPr/>
        </p:nvSpPr>
        <p:spPr>
          <a:xfrm>
            <a:off x="365760" y="3566160"/>
            <a:ext cx="184731" cy="369332"/>
          </a:xfrm>
          <a:prstGeom prst="rect">
            <a:avLst/>
          </a:prstGeom>
          <a:noFill/>
        </p:spPr>
        <p:txBody>
          <a:bodyPr wrap="none" rtlCol="0">
            <a:spAutoFit/>
          </a:bodyPr>
          <a:lstStyle/>
          <a:p>
            <a:endParaRPr lang="en-US" dirty="0"/>
          </a:p>
        </p:txBody>
      </p:sp>
      <p:pic>
        <p:nvPicPr>
          <p:cNvPr id="3074" name="Picture 2" descr="What is Ansible Tower?">
            <a:extLst>
              <a:ext uri="{FF2B5EF4-FFF2-40B4-BE49-F238E27FC236}">
                <a16:creationId xmlns:a16="http://schemas.microsoft.com/office/drawing/2014/main" id="{0595B00F-115D-324A-097E-8BB1E753F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325" y="849442"/>
            <a:ext cx="10039349" cy="5736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5306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24536-B276-D99A-8265-76B07838BAD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0225A42-2004-FAA5-EAD4-5BD11E3C159C}"/>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2" name="TextBox 1">
            <a:extLst>
              <a:ext uri="{FF2B5EF4-FFF2-40B4-BE49-F238E27FC236}">
                <a16:creationId xmlns:a16="http://schemas.microsoft.com/office/drawing/2014/main" id="{770881E4-0D07-AB2D-E113-8A984377F8DB}"/>
              </a:ext>
            </a:extLst>
          </p:cNvPr>
          <p:cNvSpPr txBox="1"/>
          <p:nvPr/>
        </p:nvSpPr>
        <p:spPr>
          <a:xfrm>
            <a:off x="550491" y="929390"/>
            <a:ext cx="10797063" cy="1200329"/>
          </a:xfrm>
          <a:prstGeom prst="rect">
            <a:avLst/>
          </a:prstGeom>
          <a:noFill/>
        </p:spPr>
        <p:txBody>
          <a:bodyPr wrap="square" rtlCol="0">
            <a:spAutoFit/>
          </a:bodyPr>
          <a:lstStyle/>
          <a:p>
            <a:r>
              <a:rPr lang="en-US" sz="2400" b="1" dirty="0"/>
              <a:t>Ansible Inventory: </a:t>
            </a:r>
            <a:r>
              <a:rPr lang="en-US" sz="2400" dirty="0"/>
              <a:t>Inventory defined the list of managed nodes you automate, with groups you can run automation tasks on multiple hosts at the same time</a:t>
            </a:r>
          </a:p>
        </p:txBody>
      </p:sp>
      <p:pic>
        <p:nvPicPr>
          <p:cNvPr id="4" name="Picture 3">
            <a:extLst>
              <a:ext uri="{FF2B5EF4-FFF2-40B4-BE49-F238E27FC236}">
                <a16:creationId xmlns:a16="http://schemas.microsoft.com/office/drawing/2014/main" id="{633E83DD-1F7F-2151-D172-73AC748AA20B}"/>
              </a:ext>
            </a:extLst>
          </p:cNvPr>
          <p:cNvPicPr>
            <a:picLocks noChangeAspect="1"/>
          </p:cNvPicPr>
          <p:nvPr/>
        </p:nvPicPr>
        <p:blipFill>
          <a:blip r:embed="rId2"/>
          <a:stretch>
            <a:fillRect/>
          </a:stretch>
        </p:blipFill>
        <p:spPr>
          <a:xfrm>
            <a:off x="688209" y="2518184"/>
            <a:ext cx="2391109" cy="3410426"/>
          </a:xfrm>
          <a:prstGeom prst="rect">
            <a:avLst/>
          </a:prstGeom>
        </p:spPr>
      </p:pic>
      <p:pic>
        <p:nvPicPr>
          <p:cNvPr id="7" name="Picture 6">
            <a:extLst>
              <a:ext uri="{FF2B5EF4-FFF2-40B4-BE49-F238E27FC236}">
                <a16:creationId xmlns:a16="http://schemas.microsoft.com/office/drawing/2014/main" id="{DE62B4E7-EF0A-BEAF-C9CA-6A5F6F371B22}"/>
              </a:ext>
            </a:extLst>
          </p:cNvPr>
          <p:cNvPicPr>
            <a:picLocks noChangeAspect="1"/>
          </p:cNvPicPr>
          <p:nvPr/>
        </p:nvPicPr>
        <p:blipFill>
          <a:blip r:embed="rId3"/>
          <a:stretch>
            <a:fillRect/>
          </a:stretch>
        </p:blipFill>
        <p:spPr>
          <a:xfrm>
            <a:off x="5273671" y="2426744"/>
            <a:ext cx="5033000" cy="1508748"/>
          </a:xfrm>
          <a:prstGeom prst="rect">
            <a:avLst/>
          </a:prstGeom>
        </p:spPr>
      </p:pic>
      <p:pic>
        <p:nvPicPr>
          <p:cNvPr id="9" name="Picture 8">
            <a:extLst>
              <a:ext uri="{FF2B5EF4-FFF2-40B4-BE49-F238E27FC236}">
                <a16:creationId xmlns:a16="http://schemas.microsoft.com/office/drawing/2014/main" id="{764179ED-446C-3561-1620-DC0B4A5E1336}"/>
              </a:ext>
            </a:extLst>
          </p:cNvPr>
          <p:cNvPicPr>
            <a:picLocks noChangeAspect="1"/>
          </p:cNvPicPr>
          <p:nvPr/>
        </p:nvPicPr>
        <p:blipFill>
          <a:blip r:embed="rId4"/>
          <a:stretch>
            <a:fillRect/>
          </a:stretch>
        </p:blipFill>
        <p:spPr>
          <a:xfrm>
            <a:off x="7771140" y="4728282"/>
            <a:ext cx="2683087" cy="1200328"/>
          </a:xfrm>
          <a:prstGeom prst="rect">
            <a:avLst/>
          </a:prstGeom>
        </p:spPr>
      </p:pic>
    </p:spTree>
    <p:extLst>
      <p:ext uri="{BB962C8B-B14F-4D97-AF65-F5344CB8AC3E}">
        <p14:creationId xmlns:p14="http://schemas.microsoft.com/office/powerpoint/2010/main" val="27475641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2C4A0-9C61-034E-AB53-112AAF3DF664}"/>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66524FB9-0C8F-59EB-AB94-B2A59E2523C5}"/>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A83647ED-2099-4618-BDB1-95CD77DDE7FF}"/>
              </a:ext>
            </a:extLst>
          </p:cNvPr>
          <p:cNvSpPr>
            <a:spLocks noGrp="1"/>
          </p:cNvSpPr>
          <p:nvPr>
            <p:ph type="ctrTitle"/>
          </p:nvPr>
        </p:nvSpPr>
        <p:spPr>
          <a:xfrm>
            <a:off x="196716" y="1217112"/>
            <a:ext cx="4082676" cy="3238563"/>
          </a:xfrm>
        </p:spPr>
        <p:txBody>
          <a:bodyPr anchor="b">
            <a:normAutofit/>
          </a:bodyPr>
          <a:lstStyle/>
          <a:p>
            <a:r>
              <a:rPr lang="en-US" sz="4800" dirty="0"/>
              <a:t>Kubernetes</a:t>
            </a:r>
          </a:p>
        </p:txBody>
      </p:sp>
    </p:spTree>
    <p:extLst>
      <p:ext uri="{BB962C8B-B14F-4D97-AF65-F5344CB8AC3E}">
        <p14:creationId xmlns:p14="http://schemas.microsoft.com/office/powerpoint/2010/main" val="31991174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88F33-49A8-693D-3FB6-1EFCDCD45A8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6CF6F7-3B8D-4F2A-C3F9-9ABB5434B8BB}"/>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E926EFE8-D775-30A2-EDAD-5F4219FB38DC}"/>
              </a:ext>
            </a:extLst>
          </p:cNvPr>
          <p:cNvSpPr txBox="1"/>
          <p:nvPr/>
        </p:nvSpPr>
        <p:spPr>
          <a:xfrm>
            <a:off x="458125" y="869341"/>
            <a:ext cx="11641509" cy="923330"/>
          </a:xfrm>
          <a:prstGeom prst="rect">
            <a:avLst/>
          </a:prstGeom>
          <a:noFill/>
        </p:spPr>
        <p:txBody>
          <a:bodyPr wrap="square">
            <a:spAutoFit/>
          </a:bodyPr>
          <a:lstStyle/>
          <a:p>
            <a:pPr>
              <a:buNone/>
            </a:pPr>
            <a:r>
              <a:rPr lang="en-US" b="1" dirty="0"/>
              <a:t>Container Management:</a:t>
            </a:r>
            <a:endParaRPr lang="en-US" dirty="0"/>
          </a:p>
          <a:p>
            <a:pPr>
              <a:buFont typeface="Arial" panose="020B0604020202020204" pitchFamily="34" charset="0"/>
              <a:buChar char="•"/>
            </a:pPr>
            <a:r>
              <a:rPr lang="en-US" dirty="0"/>
              <a:t>Container management is a process for automating the creation, deployment, and scaling of containers.</a:t>
            </a:r>
          </a:p>
          <a:p>
            <a:pPr>
              <a:buFont typeface="Arial" panose="020B0604020202020204" pitchFamily="34" charset="0"/>
              <a:buChar char="•"/>
            </a:pPr>
            <a:r>
              <a:rPr lang="en-US" dirty="0"/>
              <a:t>Container management facilitates the addition, replacement, and organization of containers on a large scale.</a:t>
            </a:r>
          </a:p>
        </p:txBody>
      </p:sp>
      <p:sp>
        <p:nvSpPr>
          <p:cNvPr id="6" name="TextBox 5">
            <a:extLst>
              <a:ext uri="{FF2B5EF4-FFF2-40B4-BE49-F238E27FC236}">
                <a16:creationId xmlns:a16="http://schemas.microsoft.com/office/drawing/2014/main" id="{83A5E718-0F19-F6F4-687A-6DAC59E98B75}"/>
              </a:ext>
            </a:extLst>
          </p:cNvPr>
          <p:cNvSpPr txBox="1"/>
          <p:nvPr/>
        </p:nvSpPr>
        <p:spPr>
          <a:xfrm>
            <a:off x="550490" y="1940751"/>
            <a:ext cx="11549143" cy="923330"/>
          </a:xfrm>
          <a:prstGeom prst="rect">
            <a:avLst/>
          </a:prstGeom>
          <a:noFill/>
        </p:spPr>
        <p:txBody>
          <a:bodyPr wrap="square">
            <a:spAutoFit/>
          </a:bodyPr>
          <a:lstStyle/>
          <a:p>
            <a:pPr>
              <a:buNone/>
            </a:pPr>
            <a:r>
              <a:rPr lang="en-US" b="1" dirty="0"/>
              <a:t>What is a Container?</a:t>
            </a:r>
            <a:endParaRPr lang="en-US" dirty="0"/>
          </a:p>
          <a:p>
            <a:pPr>
              <a:buFont typeface="Arial" panose="020B0604020202020204" pitchFamily="34" charset="0"/>
              <a:buChar char="•"/>
            </a:pPr>
            <a:r>
              <a:rPr lang="en-US" dirty="0"/>
              <a:t>A container is a lightweight package that bundles together a single app and its dependencies to make applications easier to develop, deploy and manage across complex IT environments.</a:t>
            </a:r>
          </a:p>
        </p:txBody>
      </p:sp>
      <p:sp>
        <p:nvSpPr>
          <p:cNvPr id="8" name="TextBox 7">
            <a:extLst>
              <a:ext uri="{FF2B5EF4-FFF2-40B4-BE49-F238E27FC236}">
                <a16:creationId xmlns:a16="http://schemas.microsoft.com/office/drawing/2014/main" id="{31C06BC7-6335-7C74-CA4E-AF6B83F8700B}"/>
              </a:ext>
            </a:extLst>
          </p:cNvPr>
          <p:cNvSpPr txBox="1"/>
          <p:nvPr/>
        </p:nvSpPr>
        <p:spPr>
          <a:xfrm>
            <a:off x="458125" y="3311004"/>
            <a:ext cx="6094476" cy="1754326"/>
          </a:xfrm>
          <a:prstGeom prst="rect">
            <a:avLst/>
          </a:prstGeom>
          <a:noFill/>
        </p:spPr>
        <p:txBody>
          <a:bodyPr wrap="square">
            <a:spAutoFit/>
          </a:bodyPr>
          <a:lstStyle/>
          <a:p>
            <a:pPr>
              <a:buNone/>
            </a:pPr>
            <a:r>
              <a:rPr lang="en-US" b="1" dirty="0"/>
              <a:t>Container Runtime engines:</a:t>
            </a:r>
            <a:endParaRPr lang="en-US" dirty="0"/>
          </a:p>
          <a:p>
            <a:pPr>
              <a:buFont typeface="Arial" panose="020B0604020202020204" pitchFamily="34" charset="0"/>
              <a:buChar char="•"/>
            </a:pPr>
            <a:r>
              <a:rPr lang="en-US" dirty="0"/>
              <a:t>Docker</a:t>
            </a:r>
          </a:p>
          <a:p>
            <a:pPr>
              <a:buFont typeface="Arial" panose="020B0604020202020204" pitchFamily="34" charset="0"/>
              <a:buChar char="•"/>
            </a:pPr>
            <a:r>
              <a:rPr lang="en-US" dirty="0" err="1"/>
              <a:t>Containerd</a:t>
            </a:r>
            <a:endParaRPr lang="en-US" dirty="0"/>
          </a:p>
          <a:p>
            <a:pPr>
              <a:buFont typeface="Arial" panose="020B0604020202020204" pitchFamily="34" charset="0"/>
              <a:buChar char="•"/>
            </a:pPr>
            <a:r>
              <a:rPr lang="en-US" dirty="0"/>
              <a:t>Cri-O</a:t>
            </a:r>
          </a:p>
          <a:p>
            <a:pPr>
              <a:buFont typeface="Arial" panose="020B0604020202020204" pitchFamily="34" charset="0"/>
              <a:buChar char="•"/>
            </a:pPr>
            <a:r>
              <a:rPr lang="en-US" dirty="0" err="1"/>
              <a:t>Rklet</a:t>
            </a:r>
            <a:endParaRPr lang="en-US" dirty="0"/>
          </a:p>
          <a:p>
            <a:pPr>
              <a:buFont typeface="Arial" panose="020B0604020202020204" pitchFamily="34" charset="0"/>
              <a:buChar char="•"/>
            </a:pPr>
            <a:r>
              <a:rPr lang="en-US" dirty="0"/>
              <a:t>Kubernetes CRI</a:t>
            </a:r>
          </a:p>
        </p:txBody>
      </p:sp>
      <p:sp>
        <p:nvSpPr>
          <p:cNvPr id="10" name="TextBox 9">
            <a:extLst>
              <a:ext uri="{FF2B5EF4-FFF2-40B4-BE49-F238E27FC236}">
                <a16:creationId xmlns:a16="http://schemas.microsoft.com/office/drawing/2014/main" id="{1092F479-B54E-975D-C55B-4FBDFD3F6A11}"/>
              </a:ext>
            </a:extLst>
          </p:cNvPr>
          <p:cNvSpPr txBox="1"/>
          <p:nvPr/>
        </p:nvSpPr>
        <p:spPr>
          <a:xfrm>
            <a:off x="365760" y="5106335"/>
            <a:ext cx="6094476" cy="1200329"/>
          </a:xfrm>
          <a:prstGeom prst="rect">
            <a:avLst/>
          </a:prstGeom>
          <a:noFill/>
        </p:spPr>
        <p:txBody>
          <a:bodyPr wrap="square">
            <a:spAutoFit/>
          </a:bodyPr>
          <a:lstStyle/>
          <a:p>
            <a:pPr>
              <a:buNone/>
            </a:pPr>
            <a:r>
              <a:rPr lang="en-US" b="1" dirty="0"/>
              <a:t>Few well-known container management tools:</a:t>
            </a:r>
            <a:endParaRPr lang="en-US" dirty="0"/>
          </a:p>
          <a:p>
            <a:pPr marL="285750" indent="-285750">
              <a:buFont typeface="Arial" panose="020B0604020202020204" pitchFamily="34" charset="0"/>
              <a:buChar char="•"/>
            </a:pPr>
            <a:r>
              <a:rPr lang="en-US" dirty="0"/>
              <a:t>Kubernetes	                </a:t>
            </a:r>
            <a:r>
              <a:rPr lang="en-US" dirty="0" err="1"/>
              <a:t>Openshift</a:t>
            </a:r>
            <a:endParaRPr lang="en-US" dirty="0"/>
          </a:p>
          <a:p>
            <a:pPr marL="285750" indent="-285750">
              <a:buFont typeface="Arial" panose="020B0604020202020204" pitchFamily="34" charset="0"/>
              <a:buChar char="•"/>
            </a:pPr>
            <a:r>
              <a:rPr lang="en-US" dirty="0"/>
              <a:t>Docker Swarm                Apache Mesos Marathon</a:t>
            </a:r>
          </a:p>
          <a:p>
            <a:pPr>
              <a:buFont typeface="Arial" panose="020B0604020202020204" pitchFamily="34" charset="0"/>
              <a:buChar char="•"/>
            </a:pPr>
            <a:endParaRPr lang="en-US" dirty="0"/>
          </a:p>
        </p:txBody>
      </p:sp>
      <p:sp>
        <p:nvSpPr>
          <p:cNvPr id="13" name="TextBox 12">
            <a:extLst>
              <a:ext uri="{FF2B5EF4-FFF2-40B4-BE49-F238E27FC236}">
                <a16:creationId xmlns:a16="http://schemas.microsoft.com/office/drawing/2014/main" id="{4FD2681F-F485-2DE1-40C6-72E3E3845720}"/>
              </a:ext>
            </a:extLst>
          </p:cNvPr>
          <p:cNvSpPr txBox="1"/>
          <p:nvPr/>
        </p:nvSpPr>
        <p:spPr>
          <a:xfrm>
            <a:off x="7900416" y="3685908"/>
            <a:ext cx="2386584" cy="2308324"/>
          </a:xfrm>
          <a:prstGeom prst="rect">
            <a:avLst/>
          </a:prstGeom>
          <a:noFill/>
        </p:spPr>
        <p:txBody>
          <a:bodyPr wrap="square" rtlCol="0">
            <a:spAutoFit/>
          </a:bodyPr>
          <a:lstStyle/>
          <a:p>
            <a:r>
              <a:rPr lang="en-US" b="1" dirty="0"/>
              <a:t>Benefits</a:t>
            </a:r>
          </a:p>
          <a:p>
            <a:pPr marL="285750" indent="-285750">
              <a:buFont typeface="Arial" panose="020B0604020202020204" pitchFamily="34" charset="0"/>
              <a:buChar char="•"/>
            </a:pPr>
            <a:r>
              <a:rPr lang="en-US" dirty="0"/>
              <a:t>Rollbacks/Rollouts</a:t>
            </a:r>
          </a:p>
          <a:p>
            <a:pPr marL="285750" indent="-285750">
              <a:buFont typeface="Arial" panose="020B0604020202020204" pitchFamily="34" charset="0"/>
              <a:buChar char="•"/>
            </a:pPr>
            <a:r>
              <a:rPr lang="en-US" dirty="0"/>
              <a:t>Batch execution</a:t>
            </a:r>
          </a:p>
          <a:p>
            <a:pPr marL="285750" indent="-285750">
              <a:buFont typeface="Arial" panose="020B0604020202020204" pitchFamily="34" charset="0"/>
              <a:buChar char="•"/>
            </a:pPr>
            <a:r>
              <a:rPr lang="en-US" dirty="0"/>
              <a:t>Load Balancing</a:t>
            </a:r>
          </a:p>
          <a:p>
            <a:pPr marL="285750" indent="-285750">
              <a:buFont typeface="Arial" panose="020B0604020202020204" pitchFamily="34" charset="0"/>
              <a:buChar char="•"/>
            </a:pPr>
            <a:r>
              <a:rPr lang="en-US" dirty="0"/>
              <a:t>Monitoring</a:t>
            </a:r>
          </a:p>
          <a:p>
            <a:pPr marL="285750" indent="-285750">
              <a:buFont typeface="Arial" panose="020B0604020202020204" pitchFamily="34" charset="0"/>
              <a:buChar char="•"/>
            </a:pPr>
            <a:r>
              <a:rPr lang="en-US" dirty="0"/>
              <a:t>Scheduling</a:t>
            </a:r>
          </a:p>
          <a:p>
            <a:pPr marL="285750" indent="-285750">
              <a:buFont typeface="Arial" panose="020B0604020202020204" pitchFamily="34" charset="0"/>
              <a:buChar char="•"/>
            </a:pPr>
            <a:r>
              <a:rPr lang="en-US" dirty="0"/>
              <a:t>Deploying</a:t>
            </a:r>
          </a:p>
          <a:p>
            <a:pPr marL="285750" indent="-285750">
              <a:buFont typeface="Arial" panose="020B0604020202020204" pitchFamily="34" charset="0"/>
              <a:buChar char="•"/>
            </a:pPr>
            <a:r>
              <a:rPr lang="en-US" dirty="0"/>
              <a:t>Auto Scaling</a:t>
            </a:r>
          </a:p>
        </p:txBody>
      </p:sp>
    </p:spTree>
    <p:extLst>
      <p:ext uri="{BB962C8B-B14F-4D97-AF65-F5344CB8AC3E}">
        <p14:creationId xmlns:p14="http://schemas.microsoft.com/office/powerpoint/2010/main" val="4362807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7B57A-7AA3-AAE8-7B90-720E77AF884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F9E07DC-2083-20D5-E23B-14931E7C692F}"/>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2" name="Rectangle 1">
            <a:extLst>
              <a:ext uri="{FF2B5EF4-FFF2-40B4-BE49-F238E27FC236}">
                <a16:creationId xmlns:a16="http://schemas.microsoft.com/office/drawing/2014/main" id="{05501674-A326-5F39-4F29-C67379E3B018}"/>
              </a:ext>
            </a:extLst>
          </p:cNvPr>
          <p:cNvSpPr>
            <a:spLocks noChangeArrowheads="1"/>
          </p:cNvSpPr>
          <p:nvPr/>
        </p:nvSpPr>
        <p:spPr bwMode="auto">
          <a:xfrm>
            <a:off x="365760" y="88768"/>
            <a:ext cx="11737700" cy="6076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1415"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rgbClr val="1B1C1D"/>
                </a:solidFill>
                <a:effectLst/>
                <a:latin typeface="Google Sans Text"/>
              </a:rPr>
              <a:t>Kubernetes</a:t>
            </a:r>
            <a:endParaRPr kumimoji="0" lang="en-US" altLang="en-US" sz="18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Container management (orchestration) tool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Developed by google lab (CNCF) Cloud Native Computing Foundation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Open Source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Written on Golang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Also known as K8s</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1" i="0" u="none" strike="noStrike" cap="none" normalizeH="0" baseline="0" dirty="0">
                <a:ln>
                  <a:noFill/>
                </a:ln>
                <a:solidFill>
                  <a:srgbClr val="1B1C1D"/>
                </a:solidFill>
                <a:effectLst/>
                <a:latin typeface="Google Sans Text"/>
              </a:rPr>
              <a:t>Features:</a:t>
            </a:r>
            <a:endParaRPr kumimoji="0" lang="en-US" altLang="en-US" sz="1800" b="0" i="0" u="none" strike="noStrike" cap="none" normalizeH="0" baseline="0" dirty="0">
              <a:ln>
                <a:noFill/>
              </a:ln>
              <a:solidFill>
                <a:srgbClr val="1B1C1D"/>
              </a:solidFill>
              <a:effectLst/>
              <a:latin typeface="Google Sans Tex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Google Sans Text"/>
              </a:rPr>
              <a:t>Automatic bin packing:</a:t>
            </a:r>
            <a:endParaRPr kumimoji="0" lang="en-US" altLang="en-US" sz="1800" b="0" i="0" u="none" strike="noStrike" cap="none" normalizeH="0" baseline="0" dirty="0">
              <a:ln>
                <a:noFill/>
              </a:ln>
              <a:solidFill>
                <a:srgbClr val="1B1C1D"/>
              </a:solidFill>
              <a:effectLst/>
              <a:latin typeface="Google Sans Tex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It automatically packages your application and schedules the container based on requirements and resources available.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Google Sans Text"/>
              </a:rPr>
              <a:t>Service discovery and load balancing:</a:t>
            </a:r>
            <a:endParaRPr kumimoji="0" lang="en-US" altLang="en-US" sz="1800" b="0" i="0" u="none" strike="noStrike" cap="none" normalizeH="0" baseline="0" dirty="0">
              <a:ln>
                <a:noFill/>
              </a:ln>
              <a:solidFill>
                <a:srgbClr val="1B1C1D"/>
              </a:solidFill>
              <a:effectLst/>
              <a:latin typeface="Google Sans Tex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It can control over network and communication between pods and can load balance across them.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rgbClr val="1B1C1D"/>
                </a:solidFill>
                <a:effectLst/>
                <a:latin typeface="Google Sans Text"/>
              </a:rPr>
              <a:t>Storage Orchestration:</a:t>
            </a:r>
            <a:endParaRPr kumimoji="0" lang="en-US" altLang="en-US" sz="1800" b="0" i="0" u="none" strike="noStrike" cap="none" normalizeH="0" baseline="0" dirty="0">
              <a:ln>
                <a:noFill/>
              </a:ln>
              <a:solidFill>
                <a:srgbClr val="1B1C1D"/>
              </a:solidFill>
              <a:effectLst/>
              <a:latin typeface="Google Sans Text"/>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rgbClr val="1B1C1D"/>
                </a:solidFill>
                <a:effectLst/>
                <a:latin typeface="Google Sans Text"/>
              </a:rPr>
              <a:t>AWS (EBS) AWS S3/NFS/Azure (Blob) — It allows you to mount the storage system of your choice.</a:t>
            </a:r>
          </a:p>
        </p:txBody>
      </p:sp>
    </p:spTree>
    <p:extLst>
      <p:ext uri="{BB962C8B-B14F-4D97-AF65-F5344CB8AC3E}">
        <p14:creationId xmlns:p14="http://schemas.microsoft.com/office/powerpoint/2010/main" val="1961370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19CEF-769F-CC78-93AF-BA23A4DAF58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D1CF1C0-35D9-DF0B-D247-D0AA968A7AA0}"/>
              </a:ext>
            </a:extLst>
          </p:cNvPr>
          <p:cNvSpPr txBox="1"/>
          <p:nvPr/>
        </p:nvSpPr>
        <p:spPr>
          <a:xfrm>
            <a:off x="365760" y="3566160"/>
            <a:ext cx="184731" cy="369332"/>
          </a:xfrm>
          <a:prstGeom prst="rect">
            <a:avLst/>
          </a:prstGeom>
          <a:noFill/>
        </p:spPr>
        <p:txBody>
          <a:bodyPr wrap="none" rtlCol="0">
            <a:spAutoFit/>
          </a:bodyPr>
          <a:lstStyle/>
          <a:p>
            <a:endParaRPr lang="en-US" dirty="0"/>
          </a:p>
        </p:txBody>
      </p:sp>
      <p:pic>
        <p:nvPicPr>
          <p:cNvPr id="3076" name="Picture 4">
            <a:extLst>
              <a:ext uri="{FF2B5EF4-FFF2-40B4-BE49-F238E27FC236}">
                <a16:creationId xmlns:a16="http://schemas.microsoft.com/office/drawing/2014/main" id="{5F13AFD5-BC14-6908-5BD3-AE5EC36992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288" y="1069848"/>
            <a:ext cx="8951976" cy="53711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D2FC11-F3EB-A5CC-0EC3-EDF54D16D97F}"/>
              </a:ext>
            </a:extLst>
          </p:cNvPr>
          <p:cNvSpPr txBox="1"/>
          <p:nvPr/>
        </p:nvSpPr>
        <p:spPr>
          <a:xfrm>
            <a:off x="1563624" y="4297680"/>
            <a:ext cx="786947" cy="369332"/>
          </a:xfrm>
          <a:prstGeom prst="rect">
            <a:avLst/>
          </a:prstGeom>
          <a:noFill/>
        </p:spPr>
        <p:txBody>
          <a:bodyPr wrap="none" rtlCol="0">
            <a:spAutoFit/>
          </a:bodyPr>
          <a:lstStyle/>
          <a:p>
            <a:r>
              <a:rPr lang="en-US" dirty="0"/>
              <a:t>ETCD</a:t>
            </a:r>
          </a:p>
        </p:txBody>
      </p:sp>
    </p:spTree>
    <p:extLst>
      <p:ext uri="{BB962C8B-B14F-4D97-AF65-F5344CB8AC3E}">
        <p14:creationId xmlns:p14="http://schemas.microsoft.com/office/powerpoint/2010/main" val="3962306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B0906-A8CA-1C43-DC9A-D544EDB80E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FC06F84-7321-6619-8B67-B342F420BC8F}"/>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C0272BD5-9354-3E6A-EDFD-287EAD59E4D1}"/>
              </a:ext>
            </a:extLst>
          </p:cNvPr>
          <p:cNvSpPr txBox="1"/>
          <p:nvPr/>
        </p:nvSpPr>
        <p:spPr>
          <a:xfrm>
            <a:off x="267027" y="726948"/>
            <a:ext cx="11394621" cy="4852098"/>
          </a:xfrm>
          <a:prstGeom prst="rect">
            <a:avLst/>
          </a:prstGeom>
          <a:noFill/>
        </p:spPr>
        <p:txBody>
          <a:bodyPr wrap="square">
            <a:spAutoFit/>
          </a:bodyPr>
          <a:lstStyle/>
          <a:p>
            <a:pPr>
              <a:lnSpc>
                <a:spcPct val="150000"/>
              </a:lnSpc>
              <a:buNone/>
            </a:pPr>
            <a:r>
              <a:rPr lang="en-US" sz="1600" b="1" dirty="0"/>
              <a:t>API Server: </a:t>
            </a:r>
            <a:r>
              <a:rPr lang="en-US" sz="1600" dirty="0"/>
              <a:t>The API server is a component of the Kubernetes control plane that exposes the Kubernetes API.</a:t>
            </a:r>
          </a:p>
          <a:p>
            <a:pPr>
              <a:lnSpc>
                <a:spcPct val="150000"/>
              </a:lnSpc>
              <a:buNone/>
            </a:pPr>
            <a:r>
              <a:rPr lang="en-US" sz="1600" b="1" dirty="0"/>
              <a:t>ETCD: </a:t>
            </a:r>
            <a:r>
              <a:rPr lang="en-US" sz="1600" dirty="0"/>
              <a:t>Consistent and highly-available key-value store used as Kubernetes' backing store for all cluster data.</a:t>
            </a:r>
          </a:p>
          <a:p>
            <a:pPr>
              <a:lnSpc>
                <a:spcPct val="150000"/>
              </a:lnSpc>
              <a:buNone/>
            </a:pPr>
            <a:r>
              <a:rPr lang="en-US" sz="1600" b="1" dirty="0"/>
              <a:t>Scheduler: </a:t>
            </a:r>
            <a:r>
              <a:rPr lang="en-US" sz="1600" dirty="0"/>
              <a:t>Control plane component that watches for newly created Pods with no assigned node, and selects a node for them to run on.</a:t>
            </a:r>
          </a:p>
          <a:p>
            <a:pPr>
              <a:lnSpc>
                <a:spcPct val="150000"/>
              </a:lnSpc>
              <a:buNone/>
            </a:pPr>
            <a:r>
              <a:rPr lang="en-US" sz="1600" b="1" dirty="0"/>
              <a:t>Control Manager:</a:t>
            </a:r>
            <a:r>
              <a:rPr lang="en-US" sz="1600" dirty="0"/>
              <a:t> Control plane component that runs controller processes</a:t>
            </a:r>
          </a:p>
          <a:p>
            <a:pPr lvl="1">
              <a:lnSpc>
                <a:spcPct val="150000"/>
              </a:lnSpc>
              <a:buFont typeface="Arial" panose="020B0604020202020204" pitchFamily="34" charset="0"/>
              <a:buChar char="•"/>
            </a:pPr>
            <a:r>
              <a:rPr lang="en-US" sz="1600" b="1" dirty="0"/>
              <a:t>Node controller:</a:t>
            </a:r>
            <a:r>
              <a:rPr lang="en-US" sz="1600" dirty="0"/>
              <a:t> Responsible for noticing and responding when nodes go down.</a:t>
            </a:r>
          </a:p>
          <a:p>
            <a:pPr lvl="1">
              <a:lnSpc>
                <a:spcPct val="150000"/>
              </a:lnSpc>
              <a:buFont typeface="Arial" panose="020B0604020202020204" pitchFamily="34" charset="0"/>
              <a:buChar char="•"/>
            </a:pPr>
            <a:r>
              <a:rPr lang="en-US" sz="1600" b="1" dirty="0"/>
              <a:t>Job controller:</a:t>
            </a:r>
            <a:r>
              <a:rPr lang="en-US" sz="1600" dirty="0"/>
              <a:t> Watches for Job objects that represent one-off tasks, then creates Pods to run those tasks to completion.</a:t>
            </a:r>
          </a:p>
          <a:p>
            <a:pPr lvl="1">
              <a:lnSpc>
                <a:spcPct val="150000"/>
              </a:lnSpc>
              <a:buFont typeface="Arial" panose="020B0604020202020204" pitchFamily="34" charset="0"/>
              <a:buChar char="•"/>
            </a:pPr>
            <a:r>
              <a:rPr lang="en-US" sz="1600" b="1" dirty="0"/>
              <a:t>Endpoints controller:</a:t>
            </a:r>
            <a:r>
              <a:rPr lang="en-US" sz="1600" dirty="0"/>
              <a:t> Populates the Endpoints object (that is, joins Services &amp; Pods).</a:t>
            </a:r>
          </a:p>
          <a:p>
            <a:pPr>
              <a:lnSpc>
                <a:spcPct val="150000"/>
              </a:lnSpc>
              <a:buNone/>
            </a:pPr>
            <a:r>
              <a:rPr lang="en-US" sz="1600" b="1" dirty="0" err="1"/>
              <a:t>Kubelet</a:t>
            </a:r>
            <a:r>
              <a:rPr lang="en-US" sz="1600" b="1" dirty="0"/>
              <a:t>: </a:t>
            </a:r>
            <a:r>
              <a:rPr lang="en-US" sz="1600" dirty="0"/>
              <a:t>An agent that runs on each node in the cluster. It makes sure that containers are running in a Pod.</a:t>
            </a:r>
          </a:p>
          <a:p>
            <a:pPr>
              <a:lnSpc>
                <a:spcPct val="150000"/>
              </a:lnSpc>
              <a:buNone/>
            </a:pPr>
            <a:r>
              <a:rPr lang="en-US" sz="1600" b="1" dirty="0"/>
              <a:t>Kube-Proxy: </a:t>
            </a:r>
            <a:r>
              <a:rPr lang="en-US" sz="1600" dirty="0"/>
              <a:t>Kube-proxy is a network proxy that runs on each node in your cluster, implementing part of the Kubernetes Service concept.</a:t>
            </a:r>
          </a:p>
          <a:p>
            <a:pPr>
              <a:lnSpc>
                <a:spcPct val="150000"/>
              </a:lnSpc>
              <a:buNone/>
            </a:pPr>
            <a:r>
              <a:rPr lang="en-US" sz="1600" b="1" dirty="0"/>
              <a:t>Container Runtime: </a:t>
            </a:r>
            <a:r>
              <a:rPr lang="en-US" sz="1600" dirty="0"/>
              <a:t>The container runtime is the software that is responsible for running containers.</a:t>
            </a:r>
          </a:p>
        </p:txBody>
      </p:sp>
    </p:spTree>
    <p:extLst>
      <p:ext uri="{BB962C8B-B14F-4D97-AF65-F5344CB8AC3E}">
        <p14:creationId xmlns:p14="http://schemas.microsoft.com/office/powerpoint/2010/main" val="12256470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80B8-BAAF-46F9-CF36-462A7778BC9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F95CDEF-7E43-A036-ED18-673DB8C7E9A9}"/>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225F51A1-DB1D-19BD-A75D-0E7FEC7FD321}"/>
              </a:ext>
            </a:extLst>
          </p:cNvPr>
          <p:cNvSpPr txBox="1"/>
          <p:nvPr/>
        </p:nvSpPr>
        <p:spPr>
          <a:xfrm>
            <a:off x="365760" y="841249"/>
            <a:ext cx="11649456" cy="5047536"/>
          </a:xfrm>
          <a:prstGeom prst="rect">
            <a:avLst/>
          </a:prstGeom>
          <a:noFill/>
        </p:spPr>
        <p:txBody>
          <a:bodyPr wrap="square">
            <a:spAutoFit/>
          </a:bodyPr>
          <a:lstStyle/>
          <a:p>
            <a:r>
              <a:rPr lang="en-US" sz="1400" dirty="0"/>
              <a:t>A Kubernetes Deployment is a powerful, high-level resource that provides a declarative way to manage a set of identical Pods. It is the most common resource used to run a stateless application on a Kubernetes cluster.</a:t>
            </a:r>
          </a:p>
          <a:p>
            <a:endParaRPr lang="en-US" sz="1400" dirty="0"/>
          </a:p>
          <a:p>
            <a:r>
              <a:rPr lang="en-US" sz="1400" dirty="0"/>
              <a:t>Think of a Deployment as the manager for your application. You tell it the desired state of your application (e.g., "I need 3 replicas of the NGINX container"), and the Deployment ensures that state is maintained, even if pods fail.</a:t>
            </a:r>
          </a:p>
          <a:p>
            <a:endParaRPr lang="en-US" sz="1400" dirty="0"/>
          </a:p>
          <a:p>
            <a:r>
              <a:rPr lang="en-US" sz="1400" b="1" dirty="0"/>
              <a:t>Core Purpose and Key Benefits</a:t>
            </a:r>
          </a:p>
          <a:p>
            <a:r>
              <a:rPr lang="en-US" sz="1400" dirty="0"/>
              <a:t>Deployments are essential because they introduce automation and resilience to your applications.</a:t>
            </a:r>
          </a:p>
          <a:p>
            <a:endParaRPr lang="en-US" sz="1400" dirty="0"/>
          </a:p>
          <a:p>
            <a:r>
              <a:rPr lang="en-US" sz="1400" b="1" dirty="0"/>
              <a:t>Self-Healing</a:t>
            </a:r>
            <a:r>
              <a:rPr lang="en-US" sz="1400" dirty="0"/>
              <a:t>: If a pod crashes, the Deployment automatically detects the failure and starts a new pod to replace it, ensuring the desired replica count is always met.</a:t>
            </a:r>
          </a:p>
          <a:p>
            <a:endParaRPr lang="en-US" sz="1400" dirty="0"/>
          </a:p>
          <a:p>
            <a:r>
              <a:rPr lang="en-US" sz="1400" b="1" dirty="0"/>
              <a:t>Scaling</a:t>
            </a:r>
            <a:r>
              <a:rPr lang="en-US" sz="1400" dirty="0"/>
              <a:t>: You can easily scale your application up or down by changing the number of replicas, either by a single command or by updating your YAML file.</a:t>
            </a:r>
          </a:p>
          <a:p>
            <a:endParaRPr lang="en-US" sz="1400" dirty="0"/>
          </a:p>
          <a:p>
            <a:r>
              <a:rPr lang="en-US" sz="1400" b="1" dirty="0"/>
              <a:t>Rolling Updates</a:t>
            </a:r>
            <a:r>
              <a:rPr lang="en-US" sz="1400" dirty="0"/>
              <a:t>: Deployments handle rolling out new versions of your application with zero downtime. It replaces pods one by one, ensuring the application remains available throughout the update process.</a:t>
            </a:r>
          </a:p>
          <a:p>
            <a:endParaRPr lang="en-US" sz="1400" dirty="0"/>
          </a:p>
          <a:p>
            <a:r>
              <a:rPr lang="en-US" sz="1400" b="1" dirty="0"/>
              <a:t>Rollbacks</a:t>
            </a:r>
            <a:r>
              <a:rPr lang="en-US" sz="1400" dirty="0"/>
              <a:t>: If a new update causes an issue, a Deployment allows you to easily revert to a previous, stable version of your application with a single command.</a:t>
            </a:r>
          </a:p>
          <a:p>
            <a:endParaRPr lang="en-US" sz="1400" dirty="0"/>
          </a:p>
          <a:p>
            <a:r>
              <a:rPr lang="en-US" sz="1400" b="1" dirty="0"/>
              <a:t>Declarative Management</a:t>
            </a:r>
            <a:r>
              <a:rPr lang="en-US" sz="1400" dirty="0"/>
              <a:t>: The entire state of your application is defined in a YAML file, which can be stored in version control (like Git) and is repeatable across different environments.</a:t>
            </a:r>
          </a:p>
        </p:txBody>
      </p:sp>
    </p:spTree>
    <p:extLst>
      <p:ext uri="{BB962C8B-B14F-4D97-AF65-F5344CB8AC3E}">
        <p14:creationId xmlns:p14="http://schemas.microsoft.com/office/powerpoint/2010/main" val="5055095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020F0-434F-9D09-A6F1-4D2CADC048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1F0EFAE-822C-1ED7-E81D-616B8364B455}"/>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1CBF75DA-99EA-0004-9649-368EBDC1C782}"/>
              </a:ext>
            </a:extLst>
          </p:cNvPr>
          <p:cNvSpPr txBox="1"/>
          <p:nvPr/>
        </p:nvSpPr>
        <p:spPr>
          <a:xfrm>
            <a:off x="429768" y="1061365"/>
            <a:ext cx="11484864" cy="1477328"/>
          </a:xfrm>
          <a:prstGeom prst="rect">
            <a:avLst/>
          </a:prstGeom>
          <a:noFill/>
        </p:spPr>
        <p:txBody>
          <a:bodyPr wrap="square">
            <a:spAutoFit/>
          </a:bodyPr>
          <a:lstStyle/>
          <a:p>
            <a:r>
              <a:rPr lang="en-US" dirty="0"/>
              <a:t>A </a:t>
            </a:r>
            <a:r>
              <a:rPr lang="en-US" b="1" dirty="0"/>
              <a:t>Kubernetes Service</a:t>
            </a:r>
            <a:r>
              <a:rPr lang="en-US" dirty="0"/>
              <a:t> is an abstract way to expose an application running on a set of Pods as a network service. A Service provides a single, stable IP address and DNS name that clients can use to access the application, regardless of which individual pods are running or where they are located.</a:t>
            </a:r>
          </a:p>
          <a:p>
            <a:endParaRPr lang="en-US" dirty="0"/>
          </a:p>
          <a:p>
            <a:endParaRPr lang="en-US" dirty="0"/>
          </a:p>
        </p:txBody>
      </p:sp>
      <p:sp>
        <p:nvSpPr>
          <p:cNvPr id="6" name="Rectangle 1">
            <a:extLst>
              <a:ext uri="{FF2B5EF4-FFF2-40B4-BE49-F238E27FC236}">
                <a16:creationId xmlns:a16="http://schemas.microsoft.com/office/drawing/2014/main" id="{E25E703C-AC95-7B36-4004-874611D44716}"/>
              </a:ext>
            </a:extLst>
          </p:cNvPr>
          <p:cNvSpPr>
            <a:spLocks noChangeArrowheads="1"/>
          </p:cNvSpPr>
          <p:nvPr/>
        </p:nvSpPr>
        <p:spPr bwMode="auto">
          <a:xfrm>
            <a:off x="458125" y="2204928"/>
            <a:ext cx="1105204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err="1">
                <a:highlight>
                  <a:srgbClr val="00FF00"/>
                </a:highlight>
              </a:rPr>
              <a:t>ClusterIP</a:t>
            </a:r>
            <a:r>
              <a:rPr lang="en-US" altLang="en-US" b="1" dirty="0"/>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b="1" dirty="0"/>
              <a:t>Purpose</a:t>
            </a:r>
            <a:r>
              <a:rPr lang="en-US" altLang="en-US" sz="1400" dirty="0"/>
              <a:t>: This is the default and most basic service type. A </a:t>
            </a:r>
            <a:r>
              <a:rPr lang="en-US" altLang="en-US" sz="1400" dirty="0" err="1"/>
              <a:t>ClusterIP</a:t>
            </a:r>
            <a:r>
              <a:rPr lang="en-US" altLang="en-US" sz="1400" dirty="0"/>
              <a:t> service exposes the pods on an internal IP address inside the cluster.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b="1" dirty="0"/>
              <a:t>Access</a:t>
            </a:r>
            <a:r>
              <a:rPr lang="en-US" altLang="en-US" sz="1400" dirty="0"/>
              <a:t>: It is only reachable from within the cluster. It is not accessible from the internet or outside the AKS virtual network.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9A680C4-E383-7960-1AE3-68058D6D4A61}"/>
              </a:ext>
            </a:extLst>
          </p:cNvPr>
          <p:cNvSpPr>
            <a:spLocks noChangeArrowheads="1"/>
          </p:cNvSpPr>
          <p:nvPr/>
        </p:nvSpPr>
        <p:spPr bwMode="auto">
          <a:xfrm>
            <a:off x="429768" y="3497590"/>
            <a:ext cx="10984112"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err="1">
                <a:highlight>
                  <a:srgbClr val="00FF00"/>
                </a:highlight>
              </a:rPr>
              <a:t>NodePort</a:t>
            </a:r>
            <a:r>
              <a:rPr lang="en-US" altLang="en-US" b="1" dirty="0"/>
              <a:t>:</a:t>
            </a:r>
            <a:endParaRPr lang="en-US" altLang="en-US" sz="1400" b="1" dirty="0"/>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b="1" dirty="0"/>
              <a:t>Purpose</a:t>
            </a:r>
            <a:r>
              <a:rPr lang="en-US" altLang="en-US" sz="1400" dirty="0"/>
              <a:t>: A </a:t>
            </a:r>
            <a:r>
              <a:rPr lang="en-US" altLang="en-US" sz="1400" dirty="0" err="1"/>
              <a:t>NodePort</a:t>
            </a:r>
            <a:r>
              <a:rPr lang="en-US" altLang="en-US" sz="1400" dirty="0"/>
              <a:t> service exposes the pods on a static port on every node's IP address. Kubernetes automatically allocates a random port (usually in the range 30000-32767) on each node.</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b="1" dirty="0"/>
              <a:t>Access</a:t>
            </a:r>
            <a:r>
              <a:rPr lang="en-US" altLang="en-US" sz="1400" dirty="0"/>
              <a:t>: It is accessible from outside the cluster using &lt;</a:t>
            </a:r>
            <a:r>
              <a:rPr lang="en-US" altLang="en-US" sz="1400" dirty="0" err="1"/>
              <a:t>NodeIP</a:t>
            </a:r>
            <a:r>
              <a:rPr lang="en-US" altLang="en-US" sz="1400" dirty="0"/>
              <a:t>&gt;:&lt;</a:t>
            </a:r>
            <a:r>
              <a:rPr lang="en-US" altLang="en-US" sz="1400" dirty="0" err="1"/>
              <a:t>NodePort</a:t>
            </a:r>
            <a:r>
              <a:rPr lang="en-US" altLang="en-US" sz="1400" dirty="0"/>
              <a:t>&gt;. However, traffic must be routed to the node's IP address directly.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98DB2512-DCA2-EAB5-8ADD-A1A3F09578B7}"/>
              </a:ext>
            </a:extLst>
          </p:cNvPr>
          <p:cNvSpPr>
            <a:spLocks noChangeArrowheads="1"/>
          </p:cNvSpPr>
          <p:nvPr/>
        </p:nvSpPr>
        <p:spPr bwMode="auto">
          <a:xfrm>
            <a:off x="458125" y="4899533"/>
            <a:ext cx="10807283"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err="1">
                <a:highlight>
                  <a:srgbClr val="00FF00"/>
                </a:highlight>
              </a:rPr>
              <a:t>LoadBalancer</a:t>
            </a:r>
            <a:r>
              <a:rPr lang="en-US" altLang="en-US" sz="14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t>Purpose</a:t>
            </a:r>
            <a:r>
              <a:rPr lang="en-US" altLang="en-US" sz="1400" dirty="0"/>
              <a:t>: This service type is designed for cloud environments like Azure AKS. When you create a </a:t>
            </a:r>
            <a:r>
              <a:rPr lang="en-US" altLang="en-US" sz="1400" dirty="0" err="1"/>
              <a:t>LoadBalancer</a:t>
            </a:r>
            <a:r>
              <a:rPr lang="en-US" altLang="en-US" sz="1400" dirty="0"/>
              <a:t> service, Azure's infrastructure automatically provisions a dedicated Azure Load Balancer.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b="1" dirty="0"/>
              <a:t>Access</a:t>
            </a:r>
            <a:r>
              <a:rPr lang="en-US" altLang="en-US" sz="1400" dirty="0"/>
              <a:t>: It provides a single, stable public IP address that is accessible from anywhere on the internet. The Azure Load Balancer then distributes incoming traffic to the pods behind the service.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7017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6E13-FF7C-5F87-C6EC-DBBE77001D1F}"/>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B1A14211-2FD8-B6B9-836F-625AAD23EE7F}"/>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4CABAEF6-0773-BE9E-159B-B82D5B4126C5}"/>
              </a:ext>
            </a:extLst>
          </p:cNvPr>
          <p:cNvSpPr>
            <a:spLocks noGrp="1"/>
          </p:cNvSpPr>
          <p:nvPr>
            <p:ph type="ctrTitle"/>
          </p:nvPr>
        </p:nvSpPr>
        <p:spPr>
          <a:xfrm>
            <a:off x="0" y="1202122"/>
            <a:ext cx="4082676" cy="3238563"/>
          </a:xfrm>
        </p:spPr>
        <p:txBody>
          <a:bodyPr anchor="b">
            <a:normAutofit/>
          </a:bodyPr>
          <a:lstStyle/>
          <a:p>
            <a:r>
              <a:rPr lang="en-US" sz="4800" dirty="0"/>
              <a:t>Helm Charts</a:t>
            </a:r>
          </a:p>
        </p:txBody>
      </p:sp>
    </p:spTree>
    <p:extLst>
      <p:ext uri="{BB962C8B-B14F-4D97-AF65-F5344CB8AC3E}">
        <p14:creationId xmlns:p14="http://schemas.microsoft.com/office/powerpoint/2010/main" val="13888800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9497-78BD-CD92-7C8E-736BB250610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463713-AD59-016C-330A-13BA84BCAEDF}"/>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504546ED-A2D7-DE22-5E83-9B8D515E24EB}"/>
              </a:ext>
            </a:extLst>
          </p:cNvPr>
          <p:cNvSpPr txBox="1"/>
          <p:nvPr/>
        </p:nvSpPr>
        <p:spPr>
          <a:xfrm>
            <a:off x="550491" y="891518"/>
            <a:ext cx="9687791" cy="5447069"/>
          </a:xfrm>
          <a:prstGeom prst="rect">
            <a:avLst/>
          </a:prstGeom>
          <a:noFill/>
        </p:spPr>
        <p:txBody>
          <a:bodyPr wrap="square">
            <a:spAutoFit/>
          </a:bodyPr>
          <a:lstStyle/>
          <a:p>
            <a:pPr>
              <a:lnSpc>
                <a:spcPct val="150000"/>
              </a:lnSpc>
              <a:buNone/>
            </a:pPr>
            <a:r>
              <a:rPr lang="en-US" b="1" dirty="0"/>
              <a:t>Helm charts</a:t>
            </a:r>
            <a:r>
              <a:rPr lang="en-US" dirty="0"/>
              <a:t> are packages (like rpms). It contains pre-configured Kubernetes resources such as</a:t>
            </a:r>
          </a:p>
          <a:p>
            <a:pPr lvl="1">
              <a:lnSpc>
                <a:spcPct val="150000"/>
              </a:lnSpc>
              <a:buFont typeface="Arial" panose="020B0604020202020204" pitchFamily="34" charset="0"/>
              <a:buChar char="•"/>
            </a:pPr>
            <a:r>
              <a:rPr lang="en-US" dirty="0" err="1"/>
              <a:t>ConfigMaps</a:t>
            </a:r>
            <a:endParaRPr lang="en-US" dirty="0"/>
          </a:p>
          <a:p>
            <a:pPr lvl="1">
              <a:lnSpc>
                <a:spcPct val="150000"/>
              </a:lnSpc>
              <a:buFont typeface="Arial" panose="020B0604020202020204" pitchFamily="34" charset="0"/>
              <a:buChar char="•"/>
            </a:pPr>
            <a:r>
              <a:rPr lang="en-US" dirty="0"/>
              <a:t>Deployments</a:t>
            </a:r>
          </a:p>
          <a:p>
            <a:pPr lvl="1">
              <a:lnSpc>
                <a:spcPct val="150000"/>
              </a:lnSpc>
              <a:buFont typeface="Arial" panose="020B0604020202020204" pitchFamily="34" charset="0"/>
              <a:buChar char="•"/>
            </a:pPr>
            <a:r>
              <a:rPr lang="en-US" dirty="0"/>
              <a:t>Services</a:t>
            </a:r>
          </a:p>
          <a:p>
            <a:pPr>
              <a:lnSpc>
                <a:spcPct val="150000"/>
              </a:lnSpc>
              <a:buNone/>
            </a:pPr>
            <a:r>
              <a:rPr lang="en-US" b="1" dirty="0"/>
              <a:t>Helm</a:t>
            </a:r>
            <a:r>
              <a:rPr lang="en-US" dirty="0"/>
              <a:t> is the package manager for Kubernetes (like yum) that allows easily package, configure, and deploy applications onto Kubernetes clusters.</a:t>
            </a:r>
          </a:p>
          <a:p>
            <a:pPr>
              <a:lnSpc>
                <a:spcPct val="150000"/>
              </a:lnSpc>
              <a:buNone/>
            </a:pPr>
            <a:r>
              <a:rPr lang="en-US" b="1" dirty="0"/>
              <a:t>Architecture:</a:t>
            </a:r>
            <a:r>
              <a:rPr lang="en-US" dirty="0"/>
              <a:t> Helm installs charts into Kubernetes, creating a new release for each installation. And to find new charts, you can search Helm chart repositories.</a:t>
            </a:r>
          </a:p>
          <a:p>
            <a:pPr>
              <a:lnSpc>
                <a:spcPct val="150000"/>
              </a:lnSpc>
              <a:buFont typeface="Arial" panose="020B0604020202020204" pitchFamily="34" charset="0"/>
              <a:buChar char="•"/>
            </a:pPr>
            <a:r>
              <a:rPr lang="en-US" b="1" dirty="0"/>
              <a:t>Repository</a:t>
            </a:r>
            <a:r>
              <a:rPr lang="en-US" dirty="0"/>
              <a:t> is the place where charts can be collected and shared.</a:t>
            </a:r>
          </a:p>
          <a:p>
            <a:pPr>
              <a:lnSpc>
                <a:spcPct val="150000"/>
              </a:lnSpc>
              <a:buFont typeface="Arial" panose="020B0604020202020204" pitchFamily="34" charset="0"/>
              <a:buChar char="•"/>
            </a:pPr>
            <a:r>
              <a:rPr lang="en-US" b="1" dirty="0"/>
              <a:t>Chart</a:t>
            </a:r>
            <a:r>
              <a:rPr lang="en-US" dirty="0"/>
              <a:t> is a Helm package. It contains all of the resource definitions necessary to run an application on Kubernetes Cluster.</a:t>
            </a:r>
          </a:p>
          <a:p>
            <a:pPr>
              <a:lnSpc>
                <a:spcPct val="150000"/>
              </a:lnSpc>
              <a:buFont typeface="Arial" panose="020B0604020202020204" pitchFamily="34" charset="0"/>
              <a:buChar char="•"/>
            </a:pPr>
            <a:r>
              <a:rPr lang="en-US" b="1" dirty="0"/>
              <a:t>Release</a:t>
            </a:r>
            <a:r>
              <a:rPr lang="en-US" dirty="0"/>
              <a:t> is an instance of a chart running in a Kubernetes cluster.</a:t>
            </a:r>
          </a:p>
        </p:txBody>
      </p:sp>
    </p:spTree>
    <p:extLst>
      <p:ext uri="{BB962C8B-B14F-4D97-AF65-F5344CB8AC3E}">
        <p14:creationId xmlns:p14="http://schemas.microsoft.com/office/powerpoint/2010/main" val="5042873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672A-02BB-D0F8-7294-1FFBBCBEA21A}"/>
            </a:ext>
          </a:extLst>
        </p:cNvPr>
        <p:cNvGrpSpPr/>
        <p:nvPr/>
      </p:nvGrpSpPr>
      <p:grpSpPr>
        <a:xfrm>
          <a:off x="0" y="0"/>
          <a:ext cx="0" cy="0"/>
          <a:chOff x="0" y="0"/>
          <a:chExt cx="0" cy="0"/>
        </a:xfrm>
      </p:grpSpPr>
      <p:pic>
        <p:nvPicPr>
          <p:cNvPr id="4" name="Picture 3" descr="Abstract smoke background">
            <a:extLst>
              <a:ext uri="{FF2B5EF4-FFF2-40B4-BE49-F238E27FC236}">
                <a16:creationId xmlns:a16="http://schemas.microsoft.com/office/drawing/2014/main" id="{31190CAC-6DA0-7A2A-B9C2-AF6A0D64755C}"/>
              </a:ext>
            </a:extLst>
          </p:cNvPr>
          <p:cNvPicPr>
            <a:picLocks noChangeAspect="1"/>
          </p:cNvPicPr>
          <p:nvPr/>
        </p:nvPicPr>
        <p:blipFill>
          <a:blip r:embed="rId2"/>
          <a:srcRect l="4645" r="11299"/>
          <a:stretch>
            <a:fillRect/>
          </a:stretch>
        </p:blipFill>
        <p:spPr>
          <a:xfrm>
            <a:off x="3523488" y="10"/>
            <a:ext cx="8668512" cy="6857990"/>
          </a:xfrm>
          <a:prstGeom prst="rect">
            <a:avLst/>
          </a:prstGeom>
        </p:spPr>
      </p:pic>
      <p:sp>
        <p:nvSpPr>
          <p:cNvPr id="2" name="Title 1">
            <a:extLst>
              <a:ext uri="{FF2B5EF4-FFF2-40B4-BE49-F238E27FC236}">
                <a16:creationId xmlns:a16="http://schemas.microsoft.com/office/drawing/2014/main" id="{E243B718-71AC-CF2B-0309-7FE17F6F4F12}"/>
              </a:ext>
            </a:extLst>
          </p:cNvPr>
          <p:cNvSpPr>
            <a:spLocks noGrp="1"/>
          </p:cNvSpPr>
          <p:nvPr>
            <p:ph type="ctrTitle"/>
          </p:nvPr>
        </p:nvSpPr>
        <p:spPr>
          <a:xfrm>
            <a:off x="1104900" y="1278322"/>
            <a:ext cx="4082676" cy="3238563"/>
          </a:xfrm>
        </p:spPr>
        <p:txBody>
          <a:bodyPr anchor="b">
            <a:normAutofit/>
          </a:bodyPr>
          <a:lstStyle/>
          <a:p>
            <a:r>
              <a:rPr lang="en-US" sz="4800" dirty="0"/>
              <a:t>Istio</a:t>
            </a:r>
          </a:p>
        </p:txBody>
      </p:sp>
    </p:spTree>
    <p:extLst>
      <p:ext uri="{BB962C8B-B14F-4D97-AF65-F5344CB8AC3E}">
        <p14:creationId xmlns:p14="http://schemas.microsoft.com/office/powerpoint/2010/main" val="14229533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EFEF0-1212-41D7-6875-B9BD51BC6C5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25BE3C2-DA35-FED0-0CC7-126CF6C1E63F}"/>
              </a:ext>
            </a:extLst>
          </p:cNvPr>
          <p:cNvSpPr txBox="1"/>
          <p:nvPr/>
        </p:nvSpPr>
        <p:spPr>
          <a:xfrm>
            <a:off x="365760" y="3566160"/>
            <a:ext cx="184731" cy="369332"/>
          </a:xfrm>
          <a:prstGeom prst="rect">
            <a:avLst/>
          </a:prstGeom>
          <a:noFill/>
        </p:spPr>
        <p:txBody>
          <a:bodyPr wrap="none" rtlCol="0">
            <a:spAutoFit/>
          </a:bodyPr>
          <a:lstStyle/>
          <a:p>
            <a:endParaRPr lang="en-US" dirty="0"/>
          </a:p>
        </p:txBody>
      </p:sp>
      <p:sp>
        <p:nvSpPr>
          <p:cNvPr id="4" name="TextBox 3">
            <a:extLst>
              <a:ext uri="{FF2B5EF4-FFF2-40B4-BE49-F238E27FC236}">
                <a16:creationId xmlns:a16="http://schemas.microsoft.com/office/drawing/2014/main" id="{B6907BA5-3CF1-4157-AFA7-9F63150EEAA8}"/>
              </a:ext>
            </a:extLst>
          </p:cNvPr>
          <p:cNvSpPr txBox="1"/>
          <p:nvPr/>
        </p:nvSpPr>
        <p:spPr>
          <a:xfrm>
            <a:off x="458124" y="966139"/>
            <a:ext cx="10478099" cy="369332"/>
          </a:xfrm>
          <a:prstGeom prst="rect">
            <a:avLst/>
          </a:prstGeom>
          <a:noFill/>
        </p:spPr>
        <p:txBody>
          <a:bodyPr wrap="square">
            <a:spAutoFit/>
          </a:bodyPr>
          <a:lstStyle/>
          <a:p>
            <a:r>
              <a:rPr lang="en-US" b="1" dirty="0">
                <a:highlight>
                  <a:srgbClr val="00FF00"/>
                </a:highlight>
              </a:rPr>
              <a:t>Istio</a:t>
            </a:r>
            <a:r>
              <a:rPr lang="en-US" dirty="0"/>
              <a:t> is an open framework for connecting, securing, managing and monitoring microservices.</a:t>
            </a:r>
          </a:p>
        </p:txBody>
      </p:sp>
      <p:sp>
        <p:nvSpPr>
          <p:cNvPr id="7" name="TextBox 6">
            <a:extLst>
              <a:ext uri="{FF2B5EF4-FFF2-40B4-BE49-F238E27FC236}">
                <a16:creationId xmlns:a16="http://schemas.microsoft.com/office/drawing/2014/main" id="{15FD3FF1-9A4D-E945-538E-CB631236A182}"/>
              </a:ext>
            </a:extLst>
          </p:cNvPr>
          <p:cNvSpPr txBox="1"/>
          <p:nvPr/>
        </p:nvSpPr>
        <p:spPr>
          <a:xfrm>
            <a:off x="550491" y="1996500"/>
            <a:ext cx="6094476" cy="1754326"/>
          </a:xfrm>
          <a:prstGeom prst="rect">
            <a:avLst/>
          </a:prstGeom>
          <a:noFill/>
        </p:spPr>
        <p:txBody>
          <a:bodyPr wrap="square">
            <a:spAutoFit/>
          </a:bodyPr>
          <a:lstStyle/>
          <a:p>
            <a:pPr>
              <a:buNone/>
            </a:pPr>
            <a:r>
              <a:rPr lang="en-US" b="1" dirty="0"/>
              <a:t>Istio include</a:t>
            </a:r>
            <a:endParaRPr lang="en-US" dirty="0"/>
          </a:p>
          <a:p>
            <a:pPr lvl="1">
              <a:buFont typeface="+mj-lt"/>
              <a:buAutoNum type="arabicPeriod"/>
            </a:pPr>
            <a:r>
              <a:rPr lang="en-US" dirty="0"/>
              <a:t>discovery</a:t>
            </a:r>
          </a:p>
          <a:p>
            <a:pPr lvl="1">
              <a:buFont typeface="+mj-lt"/>
              <a:buAutoNum type="arabicPeriod"/>
            </a:pPr>
            <a:r>
              <a:rPr lang="en-US" dirty="0"/>
              <a:t>load balancing</a:t>
            </a:r>
          </a:p>
          <a:p>
            <a:pPr lvl="1">
              <a:buFont typeface="+mj-lt"/>
              <a:buAutoNum type="arabicPeriod"/>
            </a:pPr>
            <a:r>
              <a:rPr lang="en-US" dirty="0"/>
              <a:t>failure recovery</a:t>
            </a:r>
          </a:p>
          <a:p>
            <a:pPr lvl="1">
              <a:buFont typeface="+mj-lt"/>
              <a:buAutoNum type="arabicPeriod"/>
            </a:pPr>
            <a:r>
              <a:rPr lang="en-US" dirty="0"/>
              <a:t>metrics</a:t>
            </a:r>
          </a:p>
          <a:p>
            <a:pPr lvl="1">
              <a:buFont typeface="+mj-lt"/>
              <a:buAutoNum type="arabicPeriod"/>
            </a:pPr>
            <a:r>
              <a:rPr lang="en-US" dirty="0"/>
              <a:t>monitoring</a:t>
            </a:r>
          </a:p>
        </p:txBody>
      </p:sp>
      <p:sp>
        <p:nvSpPr>
          <p:cNvPr id="9" name="TextBox 8">
            <a:extLst>
              <a:ext uri="{FF2B5EF4-FFF2-40B4-BE49-F238E27FC236}">
                <a16:creationId xmlns:a16="http://schemas.microsoft.com/office/drawing/2014/main" id="{87B7AC9D-E7EA-3494-79A4-634A1533B7BF}"/>
              </a:ext>
            </a:extLst>
          </p:cNvPr>
          <p:cNvSpPr txBox="1"/>
          <p:nvPr/>
        </p:nvSpPr>
        <p:spPr>
          <a:xfrm>
            <a:off x="6165342" y="1996500"/>
            <a:ext cx="6094476" cy="2308324"/>
          </a:xfrm>
          <a:prstGeom prst="rect">
            <a:avLst/>
          </a:prstGeom>
          <a:noFill/>
        </p:spPr>
        <p:txBody>
          <a:bodyPr wrap="square">
            <a:spAutoFit/>
          </a:bodyPr>
          <a:lstStyle/>
          <a:p>
            <a:pPr>
              <a:buNone/>
            </a:pPr>
            <a:r>
              <a:rPr lang="en-US" b="1" dirty="0"/>
              <a:t>Istio can also handle more complex operational requirements,</a:t>
            </a:r>
            <a:endParaRPr lang="en-US" dirty="0"/>
          </a:p>
          <a:p>
            <a:pPr lvl="1">
              <a:buFont typeface="+mj-lt"/>
              <a:buAutoNum type="arabicPeriod"/>
            </a:pPr>
            <a:r>
              <a:rPr lang="en-US" dirty="0"/>
              <a:t>A/B testing,</a:t>
            </a:r>
          </a:p>
          <a:p>
            <a:pPr lvl="1">
              <a:buFont typeface="+mj-lt"/>
              <a:buAutoNum type="arabicPeriod"/>
            </a:pPr>
            <a:r>
              <a:rPr lang="en-US" dirty="0"/>
              <a:t>canary releases,</a:t>
            </a:r>
          </a:p>
          <a:p>
            <a:pPr lvl="1">
              <a:buFont typeface="+mj-lt"/>
              <a:buAutoNum type="arabicPeriod"/>
            </a:pPr>
            <a:r>
              <a:rPr lang="en-US" dirty="0"/>
              <a:t>rate limiting,</a:t>
            </a:r>
          </a:p>
          <a:p>
            <a:pPr lvl="1">
              <a:buFont typeface="+mj-lt"/>
              <a:buAutoNum type="arabicPeriod"/>
            </a:pPr>
            <a:r>
              <a:rPr lang="en-US" dirty="0"/>
              <a:t>dark launches,</a:t>
            </a:r>
          </a:p>
          <a:p>
            <a:pPr lvl="1">
              <a:buFont typeface="+mj-lt"/>
              <a:buAutoNum type="arabicPeriod"/>
            </a:pPr>
            <a:r>
              <a:rPr lang="en-US" dirty="0"/>
              <a:t>access control,</a:t>
            </a:r>
          </a:p>
          <a:p>
            <a:pPr lvl="1">
              <a:buFont typeface="+mj-lt"/>
              <a:buAutoNum type="arabicPeriod"/>
            </a:pPr>
            <a:r>
              <a:rPr lang="en-US" dirty="0"/>
              <a:t>end-to-end authentication</a:t>
            </a:r>
          </a:p>
        </p:txBody>
      </p:sp>
      <p:sp>
        <p:nvSpPr>
          <p:cNvPr id="11" name="TextBox 10">
            <a:extLst>
              <a:ext uri="{FF2B5EF4-FFF2-40B4-BE49-F238E27FC236}">
                <a16:creationId xmlns:a16="http://schemas.microsoft.com/office/drawing/2014/main" id="{1CC08BB0-774F-BD78-AE81-D952A679D85B}"/>
              </a:ext>
            </a:extLst>
          </p:cNvPr>
          <p:cNvSpPr txBox="1"/>
          <p:nvPr/>
        </p:nvSpPr>
        <p:spPr>
          <a:xfrm>
            <a:off x="669798" y="5208723"/>
            <a:ext cx="11409426" cy="646331"/>
          </a:xfrm>
          <a:prstGeom prst="rect">
            <a:avLst/>
          </a:prstGeom>
          <a:noFill/>
        </p:spPr>
        <p:txBody>
          <a:bodyPr wrap="square">
            <a:spAutoFit/>
          </a:bodyPr>
          <a:lstStyle/>
          <a:p>
            <a:r>
              <a:rPr lang="en-US" b="1" dirty="0"/>
              <a:t>What makes Istio so unique is that all these functionalities come with </a:t>
            </a:r>
            <a:r>
              <a:rPr lang="en-US" b="1" dirty="0">
                <a:highlight>
                  <a:srgbClr val="00FF00"/>
                </a:highlight>
              </a:rPr>
              <a:t>NO CHANGE OF CODE </a:t>
            </a:r>
            <a:r>
              <a:rPr lang="en-US" b="1" dirty="0"/>
              <a:t>required.</a:t>
            </a:r>
          </a:p>
        </p:txBody>
      </p:sp>
    </p:spTree>
    <p:extLst>
      <p:ext uri="{BB962C8B-B14F-4D97-AF65-F5344CB8AC3E}">
        <p14:creationId xmlns:p14="http://schemas.microsoft.com/office/powerpoint/2010/main" val="5515904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C9275-ACE9-BF51-1630-51D339BF7EE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F25EAB5-DBDD-AAF4-02BE-E3A7982D9644}"/>
              </a:ext>
            </a:extLst>
          </p:cNvPr>
          <p:cNvSpPr txBox="1"/>
          <p:nvPr/>
        </p:nvSpPr>
        <p:spPr>
          <a:xfrm>
            <a:off x="365760" y="3566160"/>
            <a:ext cx="184731" cy="369332"/>
          </a:xfrm>
          <a:prstGeom prst="rect">
            <a:avLst/>
          </a:prstGeom>
          <a:noFill/>
        </p:spPr>
        <p:txBody>
          <a:bodyPr wrap="none" rtlCol="0">
            <a:spAutoFit/>
          </a:bodyPr>
          <a:lstStyle/>
          <a:p>
            <a:endParaRPr lang="en-US" dirty="0"/>
          </a:p>
        </p:txBody>
      </p:sp>
      <p:pic>
        <p:nvPicPr>
          <p:cNvPr id="3" name="Picture 2">
            <a:extLst>
              <a:ext uri="{FF2B5EF4-FFF2-40B4-BE49-F238E27FC236}">
                <a16:creationId xmlns:a16="http://schemas.microsoft.com/office/drawing/2014/main" id="{F39B99A6-22D8-E84B-6FD9-1754671050AD}"/>
              </a:ext>
            </a:extLst>
          </p:cNvPr>
          <p:cNvPicPr>
            <a:picLocks noChangeAspect="1"/>
          </p:cNvPicPr>
          <p:nvPr/>
        </p:nvPicPr>
        <p:blipFill>
          <a:blip r:embed="rId2"/>
          <a:stretch>
            <a:fillRect/>
          </a:stretch>
        </p:blipFill>
        <p:spPr>
          <a:xfrm>
            <a:off x="1647793" y="648427"/>
            <a:ext cx="8640381" cy="5963482"/>
          </a:xfrm>
          <a:prstGeom prst="rect">
            <a:avLst/>
          </a:prstGeom>
        </p:spPr>
      </p:pic>
      <p:sp>
        <p:nvSpPr>
          <p:cNvPr id="8" name="TextBox 7">
            <a:extLst>
              <a:ext uri="{FF2B5EF4-FFF2-40B4-BE49-F238E27FC236}">
                <a16:creationId xmlns:a16="http://schemas.microsoft.com/office/drawing/2014/main" id="{71CD464E-ACB2-D5A8-83E9-0E5E8CDBF6A0}"/>
              </a:ext>
            </a:extLst>
          </p:cNvPr>
          <p:cNvSpPr txBox="1"/>
          <p:nvPr/>
        </p:nvSpPr>
        <p:spPr>
          <a:xfrm>
            <a:off x="550491" y="153662"/>
            <a:ext cx="6094476" cy="369332"/>
          </a:xfrm>
          <a:prstGeom prst="rect">
            <a:avLst/>
          </a:prstGeom>
          <a:noFill/>
        </p:spPr>
        <p:txBody>
          <a:bodyPr wrap="square">
            <a:spAutoFit/>
          </a:bodyPr>
          <a:lstStyle/>
          <a:p>
            <a:r>
              <a:rPr lang="en-US" b="1" dirty="0">
                <a:highlight>
                  <a:srgbClr val="00FF00"/>
                </a:highlight>
              </a:rPr>
              <a:t>Architecture</a:t>
            </a:r>
            <a:endParaRPr lang="en-US" dirty="0"/>
          </a:p>
        </p:txBody>
      </p:sp>
    </p:spTree>
    <p:extLst>
      <p:ext uri="{BB962C8B-B14F-4D97-AF65-F5344CB8AC3E}">
        <p14:creationId xmlns:p14="http://schemas.microsoft.com/office/powerpoint/2010/main" val="33524097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58223-FB02-B08E-5F41-7F172B201645}"/>
            </a:ext>
          </a:extLst>
        </p:cNvPr>
        <p:cNvGrpSpPr/>
        <p:nvPr/>
      </p:nvGrpSpPr>
      <p:grpSpPr>
        <a:xfrm>
          <a:off x="0" y="0"/>
          <a:ext cx="0" cy="0"/>
          <a:chOff x="0" y="0"/>
          <a:chExt cx="0" cy="0"/>
        </a:xfrm>
      </p:grpSpPr>
    </p:spTree>
    <p:extLst>
      <p:ext uri="{BB962C8B-B14F-4D97-AF65-F5344CB8AC3E}">
        <p14:creationId xmlns:p14="http://schemas.microsoft.com/office/powerpoint/2010/main" val="39511579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2762-42CA-0AFE-4E0A-A2C6473861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B2E622-AA17-AF0B-8F49-BD719477BE0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45802638"/>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19062</TotalTime>
  <Words>4209</Words>
  <Application>Microsoft Office PowerPoint</Application>
  <PresentationFormat>Widescreen</PresentationFormat>
  <Paragraphs>458</Paragraphs>
  <Slides>60</Slides>
  <Notes>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Avenir Next LT Pro</vt:lpstr>
      <vt:lpstr>Calibri</vt:lpstr>
      <vt:lpstr>Google Sans Text</vt:lpstr>
      <vt:lpstr>AccentBoxVTI</vt:lpstr>
      <vt:lpstr>Storage   Account</vt:lpstr>
      <vt:lpstr>PowerPoint Presentation</vt:lpstr>
      <vt:lpstr>PowerPoint Presentation</vt:lpstr>
      <vt:lpstr>PowerPoint Presentation</vt:lpstr>
      <vt:lpstr>Version    Control</vt:lpstr>
      <vt:lpstr>PowerPoint Presentation</vt:lpstr>
      <vt:lpstr>PowerPoint Presentation</vt:lpstr>
      <vt:lpstr>PowerPoint Presentation</vt:lpstr>
      <vt:lpstr>PowerPoint Presentation</vt:lpstr>
      <vt:lpstr>PowerPoint Presentation</vt:lpstr>
      <vt:lpstr>Agent Pools</vt:lpstr>
      <vt:lpstr>PowerPoint Presentation</vt:lpstr>
      <vt:lpstr>ARM Templates</vt:lpstr>
      <vt:lpstr>PowerPoint Presentation</vt:lpstr>
      <vt:lpstr>PowerPoint Presentation</vt:lpstr>
      <vt:lpstr>PowerPoint Presentation</vt:lpstr>
      <vt:lpstr>PowerPoint Presentation</vt:lpstr>
      <vt:lpstr>Bicep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YAML  Scripts</vt:lpstr>
      <vt:lpstr>PowerPoint Presentation</vt:lpstr>
      <vt:lpstr>PowerPoint Presentation</vt:lpstr>
      <vt:lpstr>PowerPoint Presentation</vt:lpstr>
      <vt:lpstr>PowerPoint Presentation</vt:lpstr>
      <vt:lpstr>Maven </vt:lpstr>
      <vt:lpstr>PowerPoint Presentation</vt:lpstr>
      <vt:lpstr>PowerPoint Presentation</vt:lpstr>
      <vt:lpstr>POM File</vt:lpstr>
      <vt:lpstr>SonarQube </vt:lpstr>
      <vt:lpstr>PowerPoint Presentation</vt:lpstr>
      <vt:lpstr>Azure Artifact </vt:lpstr>
      <vt:lpstr>PowerPoint Presentation</vt:lpstr>
      <vt:lpstr>Terraform</vt:lpstr>
      <vt:lpstr>PowerPoint Presentation</vt:lpstr>
      <vt:lpstr>PowerPoint Presentation</vt:lpstr>
      <vt:lpstr>PowerPoint Presentation</vt:lpstr>
      <vt:lpstr>Ansible</vt:lpstr>
      <vt:lpstr>PowerPoint Presentation</vt:lpstr>
      <vt:lpstr>PowerPoint Presentation</vt:lpstr>
      <vt:lpstr>PowerPoint Presentation</vt:lpstr>
      <vt:lpstr>Kubernetes</vt:lpstr>
      <vt:lpstr>PowerPoint Presentation</vt:lpstr>
      <vt:lpstr>PowerPoint Presentation</vt:lpstr>
      <vt:lpstr>PowerPoint Presentation</vt:lpstr>
      <vt:lpstr>PowerPoint Presentation</vt:lpstr>
      <vt:lpstr>PowerPoint Presentation</vt:lpstr>
      <vt:lpstr>PowerPoint Presentation</vt:lpstr>
      <vt:lpstr>Helm Charts</vt:lpstr>
      <vt:lpstr>PowerPoint Presentation</vt:lpstr>
      <vt:lpstr>Istio</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Bharath Donthireddy</dc:creator>
  <cp:lastModifiedBy>Bharath Reddy</cp:lastModifiedBy>
  <cp:revision>18</cp:revision>
  <dcterms:created xsi:type="dcterms:W3CDTF">2025-07-09T23:53:58Z</dcterms:created>
  <dcterms:modified xsi:type="dcterms:W3CDTF">2025-11-21T04:22:41Z</dcterms:modified>
</cp:coreProperties>
</file>